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60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67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8" r:id="rId26"/>
    <p:sldId id="277" r:id="rId27"/>
    <p:sldId id="279" r:id="rId28"/>
    <p:sldId id="280" r:id="rId29"/>
    <p:sldId id="281" r:id="rId30"/>
    <p:sldId id="282" r:id="rId31"/>
    <p:sldId id="283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3" r:id="rId40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0"/>
          <a:lstStyle/>
          <a:p>
            <a:pPr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en-US" sz="1000" b="0" i="0" kern="0" spc="0" baseline="0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</a:rPr>
              <a:t>留一被试交叉验证：整合 DA 前后的诊断性能（%）</a:t>
            </a:r>
            <a:endParaRPr lang="en-US" altLang="en-US" sz="1000" b="0" i="0" kern="0" spc="0" baseline="0">
              <a:solidFill>
                <a:srgbClr val="16222E"/>
              </a:solidFill>
              <a:latin typeface="Heiti SC" charset="-122"/>
              <a:ea typeface="Heiti SC" charset="-122"/>
              <a:cs typeface="Heiti SC" charset="-122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整合前</c:v>
                </c:pt>
              </c:strCache>
            </c:strRef>
          </c:tx>
          <c:spPr>
            <a:solidFill>
              <a:srgbClr val="B9CBDC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>
                  <a:defRPr lang="zh-CN" sz="900" b="0" i="0" u="none" strike="noStrike" kern="1200" spc="0" baseline="0">
                    <a:solidFill>
                      <a:srgbClr val="16222E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'Sheet1'!$B$2:$B$4</c:f>
              <c:numCache>
                <c:formatCode>General</c:formatCode>
                <c:ptCount val="3"/>
                <c:pt idx="0">
                  <c:v>55</c:v>
                </c:pt>
                <c:pt idx="1">
                  <c:v>39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整合 MI-BCI DA 后</c:v>
                </c:pt>
              </c:strCache>
            </c:strRef>
          </c:tx>
          <c:spPr>
            <a:solidFill>
              <a:srgbClr val="17527A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>
                  <a:defRPr lang="zh-CN" sz="900" b="0" i="0" u="none" strike="noStrike" kern="1200" spc="0" baseline="0">
                    <a:solidFill>
                      <a:srgbClr val="16222E"/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val>
            <c:numRef>
              <c:f>'Sheet1'!$C$2:$C$4</c:f>
              <c:numCache>
                <c:formatCode>General</c:formatCode>
                <c:ptCount val="3"/>
                <c:pt idx="0">
                  <c:v>62</c:v>
                </c:pt>
                <c:pt idx="1">
                  <c:v>69</c:v>
                </c:pt>
                <c:pt idx="2">
                  <c:v>67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-27"/>
        <c:axId val="754001152"/>
        <c:axId val="753999904"/>
      </c:barChart>
      <c:catAx>
        <c:axId val="7540011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905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1000" b="0" i="0" u="none" strike="noStrike" kern="1200" spc="0" baseline="0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</a:defRPr>
            </a:pPr>
          </a:p>
        </c:txPr>
        <c:crossAx val="753999904"/>
        <c:crosses val="min"/>
        <c:auto val="1"/>
        <c:lblAlgn val="ctr"/>
        <c:lblOffset val="100"/>
        <c:noMultiLvlLbl val="0"/>
      </c:catAx>
      <c:valAx>
        <c:axId val="75399990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rgbClr val="E3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905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1" vertOverflow="ellipsis" vert="horz" wrap="square" anchor="ctr" anchorCtr="1"/>
          <a:lstStyle/>
          <a:p>
            <a:pPr>
              <a:defRPr lang="zh-CN" sz="900" b="0" i="0" u="none" strike="noStrike" kern="1200" spc="0" baseline="0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</c:txPr>
        <c:crossAx val="754001152"/>
        <c:crosses val="min"/>
        <c:crossBetween val="between"/>
      </c:valAx>
      <c:spPr>
        <a:noFill/>
        <a:ln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0"/>
        <a:lstStyle/>
        <a:p>
          <a:pPr>
            <a:defRPr lang="zh-CN" sz="900" b="1" i="0" u="none" strike="noStrike" kern="1200" spc="0" baseline="0">
              <a:solidFill>
                <a:srgbClr val="5A6B7D"/>
              </a:solidFill>
              <a:latin typeface="Heiti SC" charset="-122"/>
              <a:ea typeface="Heiti SC" charset="-122"/>
              <a:cs typeface="Heiti SC" charset="-122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7df00690-065a-4a1a-9fc6-b38c08cf5fe4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开场：这次汇报把 8 篇精读笔记串成一条递进的线索——从「能不能检测到意识」，走到「能不能读取意识内容」，
最后走到「能不能反过来调控」。全场的中心句是：每前进一步，不是因为解码更准了，而是因为对照条件更严了。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提醒听众：本汇报基于本地精读笔记，03/04 两篇原文需机构订阅、笔记为摘要级提取，涉及它们的结论会单独标注。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用三张卡片交代全场结构：行为失效 → 从检测到解读 → 内容重建与闭环。
每一幕换的东西不同：第一幕换的是问题的提法，第二幕换的是对照条件，第三幕换的是系统与患者的关系。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最后那句「对照条件更严了」是全场中心句，后面每一幕都会回到它。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先讲清楚困境：行为学量表是临床金标准，但它把「认知」和「运动输出」绑在一起。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右边强调神经信号路线的价值与代价——代价就是整个汇报反复出现的 ground truth 问题。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这一页是全场的骨架，请慢慢讲。三幕各自换的东西不同：第一幕换的是问题的提法——不再问「有没有反应」，而问「能不能绕过坏掉的输出通道」；
第二幕换的是对照条件——要证明一个解码结果真的是意识，必须加入 no-report、意识/无意识对照；
第三幕换的是系统与患者的关系——从一次性检查变成持续交互，最后变成检测与干预的闭环。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底部那句话是全场中心句，后面每一幕都会回到它。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这一页是索引，不用逐行念。指出两点：一是编号与本地笔记文件名一致，方便回查；二是 03 与 04 是摘要级笔记，后面讲到时会标出来。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第一幕开场。三句话交代这一幕：先把临床困境说清楚，再用数据说明它并不罕见，最后给出一张贯穿全场的地图。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提醒听众：这一幕里 BCI 还不是通信工具，而是替代行为学的一把新尺子。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这是全场第一个硬数字：241 名无可观察指令反应的患者里，60 人（25%）检出 CMD。
同时给出操作性定义，避免大家把 CMD 当成「有意识」的同义词。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设计细节（CRS-R 盲评、第一天最佳表现）是这篇可信度的来源。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这一页是这篇文献的诚实边界，也是后面所有讨论的前提。
重点：对照组 38% 的检出率，说明范式灵敏度有限，所以 25% 是下限。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收尾一定要读那句双向边界。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这是全场的路线图，后面每一幕都会回到这四个层级。
重点不是「一级比一级难」，而是「一级比一级对证据的要求更严」：前两级可以靠任务和行为的对照，后两级必须用无报告范式和意识/无意识对照。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最后读一遍汇报结论——整场报告的起点就落在这一句上。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第二幕开场。这一幕是全场的理论重心，也是最容易讲快的一幕，请留足时间。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提示听众：接下来会连续出现四个必须分清的概念——解码、意识层次、报告、ground truth。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这篇的核心贡献不是新算法，而是重新定义问题：从 consciousness detection 到 consciousness reconstruction。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四个局限里，最值得注意的是「依赖先验神经解剖假设」——它和 07 的脑地形结果以及 06 的跨被试失败互相印证。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这张表是全文最实用的部分。逐条读会太慢，挑三条讲：不依赖任意阈值、分别评估感觉与语义、沿连续谱评估。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最后提醒：这张表承诺的是「潜在解法」，不是已验证的结果。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这是全场最重要的一页，请放慢。左边这条链说明：刺激进入大脑之后要经过好几步才可能变成体验，
而解码器能看到的只是其中某一步的痕迹。右边列出三种同样能产生这个预测的解释——
注意第②③两种解释都不需要意识存在，所以「解码成功」本身不构成意识证据。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最后落在汇报结论上：可解码 ≠ 可证明为意识，这是后面所有实验设计要守住的一条线。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这一页把两种范式的差别讲成一句话：传统范式测的是「能不能做到」，解码范式测的是「正在加工什么」。
强调最后一行——内容层面的证据，才是它被认为更接近主观体验的理由。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同时埋下伏笔：能重建内容，并不自动等于重建了「体验」，下一页专门讲这个坑。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这一页解释为什么意识 BCI 难：不是信号不够好，而是缺 ground truth。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务必念出底部那行——03 是摘要级笔记，正文细节未核实。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这一页的作用是给整场汇报立一套词汇。level 问的是「有多清醒」，state 问的是「此刻整体状态」，content 问的是「体验里是什么」。
强调中间那句话：检测 level 和解码 content 不是同一个问题的难易版本，而是两个不同的问题——这决定了实验设计和证据标准都不一样。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如果时间和听众水平允许，可以举一个反例：脑电 alpha 功率升高不等于「意识增强」，它更可能对应觉醒水平的变化。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这一页回答「为什么要费劲做无报告范式」。核心一句：报告本身是脑活动的一部分，所以让患者报告，等于把测量工具混进了被测对象。
在意识障碍场景这一点更尖锐：能不能报告，本来就是我们要判断的事情，不能同时拿它当尺子。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提醒听众：no-report 的代价是失去行为锚点，所以必须用更严的对照补回来。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四道对照可以理解为「排除法」：每一道都在排除一种「不需要意识也能解释」的可能。
masking 排除感觉阈值；注意力操控排除注意；no-report 排除报告动作；跨模态排除单一模态的偶然。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读完判据后，落到汇报结论：普通 BCI 有行为结果当金标准，意识 BCI 没有，这才是它根本性的难点。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第三幕开场。这一幕从技术基础走到临床，最后收在闭环调控上。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提示听众：接下来的每一篇都在解决上一幕留下的一个问题——语义重建解决「内容」的问题，流式与交互解决「时间」的问题，多模态与闭环解决「证据」的问题。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这一页按笔记的顺序讲一条链：① 先问对问题——不是「他听到了哪个词」，而是「他理解到了什么」；② 再看难点——BOLD 约 10 秒、语速每秒 2 个词以上，一张脑图被 20 多个词同时影响，逐词分类在这里是病态逆问题；
③ 然后是解法——编码模型 + 语言模型 + beam search 的「生成→打分→择优」，输出的本来就会是一段改写过的话。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④ 最后才是结果：72–82% 的时间点语义相似度显著高于随机，只读解码文本也能答对 9/16 道阅读理解题；但 WER 0.92–0.94，用逐词正确率衡量会低估它。
最下面一行是这一页真正的落点：运动表征只在「试图说」时出现，语义表征在「想象」时同样可及——这是通往无法发声者的一扇门；代价是训练必须个体化，而且解码可以被主动抵抗。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这一页回答「为什么是语义，而不是词」。左边是刺激识别，右边是意义重建——后者才对应意识研究关心的层级。
第二点很实用：用词错率评价这类系统会冤枉它，因为同义表达本来就允许不同词；要用意义相似度和下游任务可用性来评价。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第三点给后面做铺垫：意义是跨模态共享的，这正是把语义解码迁移到听觉语言、想象语言的依据。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这一页把「延迟」从工程细节提升为范式问题：等待式系统必须切分句子，流式系统则是连续在场。
关键数字念三个就够：80 ms、约 99.3%、46.5 对 24.8 词/分。注意 04 的笔记是摘要级，引用时说明。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底部推论是全场主线的一部分：流式带来的「持续在场」，是第三幕后半段「持续交互」的技术前提。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四个代价里，前两个是设备与训练成本，后两个更值得讨论。
「抵抗」这一条请重点讲：它看起来是限制，其实是质量证明——说明解码依赖被试的认知状态。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底部那条推论是把 06 和后面的临床场景连起来：跨被试失败不等于患者不可解码，因为患者未必能表达「不合作」。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把两篇语音 BCI 放在一起对照：一条是「流式语言模型」，一条是「直接声学合成」。
05 最关键的数字是合成语音 WER 43.75% 对患者自身残余语音 96.43%——这是可懂度的实质提升。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同时点出两张牌面下的代价：流式的 WER 仍高；实时的音质仍不如事后合成。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这一页把「声音」本身讲成一个独立的价值：文字 BCI 解决的是「说清楚」，但它丢掉了韵律，也丢掉了边说边听见自己。
左边这条语言层级链说明这项研究停在最后一段——从发音相关的神经表征直接预测声学输出；它读到的还不是抽象思维，这既是它的强项，也是它的边界。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四个小标题是一条链：为什么不再满足于文字 → 难在哪（连标准答案都没有，于是用 TTS 造标签、再从神经活动反推音节边界来对齐）→ 怎么做（只看过去 10 ms 的因果解码）→ 拿到什么（94.34%；合成语音 WER 43.75%，而他本人残余说话是 96.43%）。
最下面一行是最容易被忽略也最动人的部分：词表外与拟声、默说、副语言，以及患者听到自己原本的声音。请把原话念出来。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这一页单独拎出来，因为它对组里做解码的人最有用：真正携带语音信息的不一定是「驱动发声」的那部分活动。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2.5% 对 97.5% 的对比，说明大部分方差是任务相关的准备/缓冲活动，而不是输出本身。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这一页从「方法」转到「临床价值」。核心论证是：BCI 指标之所以有用，是因为它与行为学不共线。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注意作者自己也承认，诊断本来就是用有缺陷的尺子做出来的，所以「DA 与 CRS-R 无关」并不令人意外——真正的问题在尺子。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 07 的「结构化多阶段协议」讲成一个范式变化，而不是流程细节。
左边三种失败模式是每个做临床测量的人都会遇到的，请具体讲：疲劳和注意波动会造成假阴性，而假阴性会被当作「无意识」的证据。
右边给出答案：把一次性检查换成持续交互，让「一次没做到」不再等于「做不到」。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底部推论是全场的第二句主线：通道的连续性与关系的连续性，其实是同一个方向的两次推进。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这一页回答「为什么要折腾多模态」。依次说清三种模态各自的边界，再指出融合的意义是互补盲区，不是简单叠加准确率。
第一条要注意：作者本人明确把自主神经指标限定为背景信息，不是意识标志物——这个限定要保留。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底部推论请重点讲：单一模态的阴性，本身不携带「没有意识」这个信息。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收尾的展望页：五个阶段 + 闭环 + AI 的四个角色。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提醒听众，闭环部分目前仍是概念性的，08 是综述，不是实验结果。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这一幕的收束，也是全场的落点。回路本身是 08 提出的：脑信号 → AI 解码 → 意识状态 → 神经调控 → 新的大脑状态 → 再评估。
左边讲闭环的价值：它能把相关性推进到因果性，这是纯观察研究做不到的。
右边讲它的代价，这部分是我的推论，请明确说是推论：一旦你同时测量和干预，就失去了一个独立的参照点；
所以闭环实验必须自带「自然状态基线 + 调控后对照」的设计，否则因果解释会自我循环。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同时点出伦理性质的变化：从隐私问题变成授权问题——这是我认为最值得做的空白。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从「文献讲了什么」转到「我们还能做什么」。这五个空白是后面讨论的引子。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如果组里要做选题，Gap 3（ground truth）和 Gap 2（迁移）是最容易形成具体实验设计的两个。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这是整个汇报的方法论立场，也是我们读这批文献时最想守住的一条线。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凡是要把结论往外推一步的时候，先回到这一页看看推的是哪一层。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这一页是我自己的判断，请先声明「以下是我的推论，不是文献结论」，再逐条讲。
第 1 条可以这样展开：如果我们只能提高解码精度，却拿不出更严的对照，那么审稿人问的问题仍然是「你怎么知道这不是无意识加工」。
第 3 条展开：闭环是最有想象力的方向，但它要求我们同时设计「怎么干预」和「怎么证明干预有效」，这是当前文献里最薄的地方。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讲完这一页直接进入讨论问题。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这一页是全场的一句话索引，用于收束和答疑定位，不必逐条念。
建议只点三行：02（可解码 ≠ 可证明为意识）、03（没有 ground truth）、08（指向闭环）。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如果要现场定位某篇文献的结论，直接从这一页指过去。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最后一页供回查。所有数字都来自本合集的精读笔记与其引用的原文；03、04 两篇为摘要级提取。</a:t>
            </a:r>
            <a:endParaRPr lang="en-US" sz="1200" b="0" i="0" u="none" strike="noStrike">
              <a:solidFill>
                <a:srgbClr val="000000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7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7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7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7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7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4160520"/>
            <a:ext cx="12179300" cy="2108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ap="flat" cmpd="sng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1170432"/>
            <a:ext cx="11057839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 spc="2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BCI × CONSCIOUSNESS · 文献精读合集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1627632"/>
            <a:ext cx="11057839" cy="10629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55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脑机接口与意识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2615184"/>
            <a:ext cx="11057839" cy="5669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6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从「意识检测」到「意识内容解码」，再到闭环调控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3346704"/>
            <a:ext cx="219456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66928" y="3584448"/>
            <a:ext cx="11057839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8 篇文献精读 · 三幕递进 · 2023–2026 · 组会汇报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内容依据本地精读笔记整理；原文获取状态与校验值见合集 README 与 manifest.json。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OUTLINE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三幕递进：一条关于「读数可信度」的线索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59536" y="2121408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第一幕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4672" y="2670048"/>
            <a:ext cx="3051962" cy="386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行为失效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4672" y="3072384"/>
            <a:ext cx="3051962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当患者无法做出反应，BCI 如何成为意识的旁路？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4672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4672" y="4315968"/>
            <a:ext cx="3051962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400"/>
              </a:lnSpc>
              <a:defRPr/>
            </a:pPr>
            <a:r>
              <a:rPr lang="en-US" sz="1200" b="0" i="0" u="none" strike="noStrike">
                <a:solidFill>
                  <a:srgbClr val="D98A21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01 Bodien 2024 · NEJM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32122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69282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24730" y="2121408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第二幕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69866" y="2670048"/>
            <a:ext cx="3051962" cy="386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从检测到解读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69866" y="3072384"/>
            <a:ext cx="3051962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从「有没有」换成「是什么」——那我们凭什么说它是意识？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569866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69866" y="4315968"/>
            <a:ext cx="3051962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7527A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02 Fischer 2025 · Neurology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7527A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03 Kronemer 2025 · NRN</a:t>
            </a:r>
            <a:endParaRPr lang="en-US" sz="1050" b="0" i="0" u="none" strike="noStrike">
              <a:solidFill>
                <a:srgbClr val="17527A"/>
              </a:solidFill>
              <a:latin typeface="Heiti SC" charset="-122"/>
              <a:ea typeface="Heiti SC" charset="-122"/>
              <a:cs typeface="Heiti SC" charset="-122"/>
              <a:sym typeface="Heiti SC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097317" y="1938528"/>
            <a:ext cx="3527450" cy="2999232"/>
          </a:xfrm>
          <a:prstGeom prst="roundRect">
            <a:avLst>
              <a:gd name="adj" fmla="val 396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234477" y="2029968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389925" y="2121408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35061" y="2670048"/>
            <a:ext cx="3051962" cy="386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内容重建与闭环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35061" y="3072384"/>
            <a:ext cx="3051962" cy="10972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语义与声音能被重建；能否进一步检测、干预、再检测？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335061" y="4187952"/>
            <a:ext cx="3051962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335061" y="4315968"/>
            <a:ext cx="3051962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06 Tang · 04 Littlejohn · 05 Wairagkar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07 du Bois · 08 Kordas</a:t>
            </a:r>
            <a:endParaRPr lang="en-US" sz="1050" b="0" i="0" u="none" strike="noStrike">
              <a:solidFill>
                <a:srgbClr val="1B8C99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566928" y="5230368"/>
            <a:ext cx="11057839" cy="859536"/>
          </a:xfrm>
          <a:prstGeom prst="roundRect">
            <a:avLst>
              <a:gd name="adj" fmla="val 13829"/>
            </a:avLst>
          </a:prstGeom>
          <a:solidFill>
            <a:srgbClr val="0A1A2F">
              <a:alpha val="100000"/>
            </a:srgbClr>
          </a:solidFill>
          <a:ln w="12700">
            <a:solidFill>
              <a:srgbClr val="0A1A2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77824" y="5230368"/>
            <a:ext cx="10436047" cy="8595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一条主线：每前进一步，不是因为解码更准了，而是因为对照条件更严了。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顺序沿用合集 README 的推荐阅读顺序；编号与笔记文件名一一对应。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WHY IT MATTERS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问题的起点：评估手段的天花板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47088"/>
            <a:ext cx="5364328" cy="2395728"/>
          </a:xfrm>
          <a:prstGeom prst="roundRect">
            <a:avLst>
              <a:gd name="adj" fmla="val 49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59536" y="2048256"/>
            <a:ext cx="4779112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行为学评估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59536" y="2432304"/>
            <a:ext cx="4779112" cy="16459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42900" indent="-165100"/>
            <a:lvl2pPr marL="800100" indent="-165100"/>
            <a:lvl3pPr marL="1257300" indent="-165100"/>
            <a:lvl4pPr marL="1714500" indent="-165100"/>
            <a:lvl5pPr marL="2171700" indent="-165100"/>
            <a:lvl6pPr marL="2628900" indent="-165100"/>
            <a:lvl7pPr marL="3086100" indent="-165100"/>
            <a:lvl8pPr marL="3543300" indent="-165100"/>
            <a:lvl9pPr marL="4000500" indent="-165100"/>
          </a:lstStyle>
          <a:p>
            <a:pPr marL="342900" indent="-1651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GCS、CRS-R 等量表都要求患者把认知转成可观察的动作或言语。</a:t>
            </a:r>
            <a:endParaRPr lang="en-US" sz="1100"/>
          </a:p>
          <a:p>
            <a:pPr marL="342900" indent="-1651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在睡眠、麻醉、瘫痪、闭锁综合征、no-report 范式下失效。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42900" indent="-1651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结果可能被系统性低估：认知仍在，输出通道损坏。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60440" y="1847088"/>
            <a:ext cx="5364328" cy="2395728"/>
          </a:xfrm>
          <a:prstGeom prst="roundRect">
            <a:avLst>
              <a:gd name="adj" fmla="val 49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53048" y="2048256"/>
            <a:ext cx="4779112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神经信号评估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53048" y="2432304"/>
            <a:ext cx="4779112" cy="16459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42900" indent="-165100"/>
            <a:lvl2pPr marL="800100" indent="-165100"/>
            <a:lvl3pPr marL="1257300" indent="-165100"/>
            <a:lvl4pPr marL="1714500" indent="-165100"/>
            <a:lvl5pPr marL="2171700" indent="-165100"/>
            <a:lvl6pPr marL="2628900" indent="-165100"/>
            <a:lvl7pPr marL="3086100" indent="-165100"/>
            <a:lvl8pPr marL="3543300" indent="-165100"/>
            <a:lvl9pPr marL="4000500" indent="-165100"/>
          </a:lstStyle>
          <a:p>
            <a:pPr marL="342900" indent="-1651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任务态 fMRI / EEG / fNIRS / 自主神经指标，不依赖运动输出。</a:t>
            </a:r>
            <a:endParaRPr lang="en-US" sz="1100"/>
          </a:p>
          <a:p>
            <a:pPr marL="342900" indent="-1651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已有研究能在无反应患者中检出与执行指令一致的脑活动。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42900" indent="-1651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代价：意识本身没有可直接观测的金标准，即 ground truth 缺失。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66928" y="4443984"/>
            <a:ext cx="11057839" cy="1572768"/>
          </a:xfrm>
          <a:prstGeom prst="roundRect">
            <a:avLst>
              <a:gd name="adj" fmla="val 7557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32688" y="4626864"/>
            <a:ext cx="10326319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所以真正的问题不是「他有没有反应」，而是：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32688" y="4992624"/>
            <a:ext cx="10326319" cy="8412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7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残余的意识与认知，是否仍然可被检测——甚至被读取？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THE THREAD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领域主线：三幕递进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37360"/>
            <a:ext cx="3503066" cy="603504"/>
          </a:xfrm>
          <a:prstGeom prst="roundRect">
            <a:avLst>
              <a:gd name="adj" fmla="val 19696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41248" y="1737360"/>
            <a:ext cx="2954426" cy="60350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第一幕 · 行为失效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41248" y="2414016"/>
            <a:ext cx="2954426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换的是问题的提法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66928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76656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22960" y="2852928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传统 BCI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22960" y="3163824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运动意图 → 设备控制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6928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76656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2960" y="3694176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语音 BCI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2960" y="4005072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语言意图 → 文字与声音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66928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76656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22960" y="4535424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 BCI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22960" y="4846320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脑信号 → 隐蔽认知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44314" y="1737360"/>
            <a:ext cx="3503066" cy="603504"/>
          </a:xfrm>
          <a:prstGeom prst="roundRect">
            <a:avLst>
              <a:gd name="adj" fmla="val 19696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618634" y="1737360"/>
            <a:ext cx="2954426" cy="60350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第二幕 · 从检测到解读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618634" y="2414016"/>
            <a:ext cx="2954426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换的是对照条件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344314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454042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600346" y="2852928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神经解码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600346" y="3163824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脑信号 → 语义表征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344314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4454042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4600346" y="3694176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意识内容解码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600346" y="4005072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脑信号 → 具体体验内容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344314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4454042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4600346" y="4535424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验证问题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600346" y="4846320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凭什么说这就是意识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121701" y="1737360"/>
            <a:ext cx="3503066" cy="603504"/>
          </a:xfrm>
          <a:prstGeom prst="roundRect">
            <a:avLst>
              <a:gd name="adj" fmla="val 19696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396021" y="1737360"/>
            <a:ext cx="2954426" cy="60350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第三幕 · 内容重建与闭环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396021" y="2414016"/>
            <a:ext cx="2954426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换的是系统与患者的关系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121701" y="2779776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8231429" y="2907792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8377733" y="2852928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语义与声音重建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377733" y="3163824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意义可读，声音可表达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8121701" y="3621024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8231429" y="3749040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6" name="AutoShape 46"/>
          <p:cNvSpPr/>
          <p:nvPr/>
        </p:nvSpPr>
        <p:spPr>
          <a:xfrm>
            <a:off x="8377733" y="3694176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持续交互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8377733" y="4005072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从一次检查到一段对话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121701" y="4462272"/>
            <a:ext cx="3503066" cy="749808"/>
          </a:xfrm>
          <a:prstGeom prst="roundRect">
            <a:avLst>
              <a:gd name="adj" fmla="val 158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8231429" y="4590288"/>
            <a:ext cx="68580" cy="493776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0" name="AutoShape 50"/>
          <p:cNvSpPr/>
          <p:nvPr/>
        </p:nvSpPr>
        <p:spPr>
          <a:xfrm>
            <a:off x="8377733" y="4535424"/>
            <a:ext cx="2991002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闭环调控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8377733" y="4846320"/>
            <a:ext cx="2991002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检测 → 干预 → 再检测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566928" y="5596128"/>
            <a:ext cx="11057839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从「输出通道」到「内容读取」，再到「闭环干预」——越往后走，工程可行性越低，而科学争议越大。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THE 8 PAPERS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文献地图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00784"/>
            <a:ext cx="73152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编号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408176" y="1700784"/>
            <a:ext cx="420624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文献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687568" y="1700784"/>
            <a:ext cx="18288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类型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07808" y="1700784"/>
            <a:ext cx="2487168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在本汇报中的角色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253167" y="1700784"/>
            <a:ext cx="13716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提取深度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66928" y="2011680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7200" y="2043684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66928" y="2084832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408176" y="2084832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Bodien 2024 · NEJM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87568" y="2084832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多中心队列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07808" y="2084832"/>
            <a:ext cx="279146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临床起点：CMD 并不罕见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253167" y="2084832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66928" y="2583180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408176" y="2583180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Fischer 2025 · Neurology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687568" y="2583180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综述 / 观点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07808" y="2583180"/>
            <a:ext cx="2487168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范式转换：从检测走向解码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253167" y="2583180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7200" y="3040380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566928" y="3081528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408176" y="3081528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Kronemer 2025 · NRN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687568" y="3081528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综述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607808" y="3081528"/>
            <a:ext cx="309626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方法学约束：如何证明与意识相关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253167" y="3081528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摘要级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66928" y="3579876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06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408176" y="3579876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Tang 2023 · Nat Neurosci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5687568" y="3579876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方法研究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7607808" y="3579876"/>
            <a:ext cx="2487168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非侵入语义重建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10253167" y="3579876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457200" y="4037076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566928" y="4078224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1408176" y="4078224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Littlejohn 2025 · Nat Neurosci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5687568" y="4078224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技术报告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607808" y="4078224"/>
            <a:ext cx="2487168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流式脑→语音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253167" y="4078224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摘要级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66928" y="4576572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1408176" y="4576572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Wairagkar 2025 · Nature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5687568" y="4576572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技术报告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7607808" y="4576572"/>
            <a:ext cx="2487168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即时声音合成与表达性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0253167" y="4576572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457200" y="5033772"/>
            <a:ext cx="11277295" cy="452628"/>
          </a:xfrm>
          <a:prstGeom prst="roundRect">
            <a:avLst>
              <a:gd name="adj" fmla="val 2626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7" name="AutoShape 47"/>
          <p:cNvSpPr/>
          <p:nvPr/>
        </p:nvSpPr>
        <p:spPr>
          <a:xfrm>
            <a:off x="566928" y="5074920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07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1408176" y="5074920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du Bois 2026 · Commun Med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5687568" y="5074920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临床研究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7607808" y="5074920"/>
            <a:ext cx="309626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可穿戴 EEG + 运动想象 BCI</a:t>
            </a:r>
            <a:endParaRPr lang="en-US" sz="1100"/>
          </a:p>
        </p:txBody>
      </p:sp>
      <p:sp>
        <p:nvSpPr>
          <p:cNvPr id="51" name="AutoShape 51"/>
          <p:cNvSpPr/>
          <p:nvPr/>
        </p:nvSpPr>
        <p:spPr>
          <a:xfrm>
            <a:off x="10253167" y="5074920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52" name="AutoShape 52"/>
          <p:cNvSpPr/>
          <p:nvPr/>
        </p:nvSpPr>
        <p:spPr>
          <a:xfrm>
            <a:off x="566928" y="5573268"/>
            <a:ext cx="73152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08</a:t>
            </a:r>
            <a:endParaRPr lang="en-US" sz="1100"/>
          </a:p>
        </p:txBody>
      </p:sp>
      <p:sp>
        <p:nvSpPr>
          <p:cNvPr id="53" name="AutoShape 53"/>
          <p:cNvSpPr/>
          <p:nvPr/>
        </p:nvSpPr>
        <p:spPr>
          <a:xfrm>
            <a:off x="1408176" y="5573268"/>
            <a:ext cx="420624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Kordas 2026 · J Clin Med</a:t>
            </a:r>
            <a:endParaRPr lang="en-US" sz="1100"/>
          </a:p>
        </p:txBody>
      </p:sp>
      <p:sp>
        <p:nvSpPr>
          <p:cNvPr id="54" name="AutoShape 54"/>
          <p:cNvSpPr/>
          <p:nvPr/>
        </p:nvSpPr>
        <p:spPr>
          <a:xfrm>
            <a:off x="5687568" y="5573268"/>
            <a:ext cx="18288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综述</a:t>
            </a:r>
            <a:endParaRPr lang="en-US" sz="1100"/>
          </a:p>
        </p:txBody>
      </p:sp>
      <p:sp>
        <p:nvSpPr>
          <p:cNvPr id="55" name="AutoShape 55"/>
          <p:cNvSpPr/>
          <p:nvPr/>
        </p:nvSpPr>
        <p:spPr>
          <a:xfrm>
            <a:off x="7607808" y="5573268"/>
            <a:ext cx="279146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多模态 + AI + 闭环展望</a:t>
            </a:r>
            <a:endParaRPr lang="en-US" sz="1100"/>
          </a:p>
        </p:txBody>
      </p:sp>
      <p:sp>
        <p:nvSpPr>
          <p:cNvPr id="56" name="AutoShape 56"/>
          <p:cNvSpPr/>
          <p:nvPr/>
        </p:nvSpPr>
        <p:spPr>
          <a:xfrm>
            <a:off x="10253167" y="5573268"/>
            <a:ext cx="1371600" cy="4069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全文</a:t>
            </a:r>
            <a:endParaRPr lang="en-US" sz="1100"/>
          </a:p>
        </p:txBody>
      </p:sp>
      <p:sp>
        <p:nvSpPr>
          <p:cNvPr id="57" name="AutoShape 57"/>
          <p:cNvSpPr/>
          <p:nvPr/>
        </p:nvSpPr>
        <p:spPr>
          <a:xfrm>
            <a:off x="566928" y="6016752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58" name="AutoShape 58"/>
          <p:cNvSpPr/>
          <p:nvPr/>
        </p:nvSpPr>
        <p:spPr>
          <a:xfrm>
            <a:off x="566928" y="6382512"/>
            <a:ext cx="11057839" cy="4699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03、04 两篇原文经 Unpaywall / OpenAlex / Europe PMC 核验为闭源，需机构订阅；笔记为摘要级提取，汇报中已单独标注。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4892040"/>
            <a:ext cx="12179300" cy="19659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ap="flat" cmpd="sng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1335024"/>
            <a:ext cx="274320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 spc="2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第 1 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1737360"/>
            <a:ext cx="7498080" cy="9372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8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行为失效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2706624"/>
            <a:ext cx="786384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When behaviour stops being a trustworthy readout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66928" y="3511296"/>
            <a:ext cx="7589520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550" b="0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意识评估的传统做法是「让患者做出反应」。当运动输出通路损坏时，这个做法不是变得不准确，而是从根上失效——BCI 的第一重身份，正是绕开这条坏掉的通路。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87968" y="1920240"/>
            <a:ext cx="2444191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这一幕要交代的问题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87968" y="2286000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45168" y="2267712"/>
            <a:ext cx="1986991" cy="8046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为什么「没有反应」不能等于「没有认知」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87968" y="3163824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345168" y="3145536"/>
            <a:ext cx="1986991" cy="8046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CMD 的真实规模，以及检出率的含义与下限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87968" y="4041648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45168" y="4023360"/>
            <a:ext cx="1986991" cy="8046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从 state 到 conscious content：四层问题地图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1 · 01 Bodien 2024 · NEJM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行为无反应 ≠ 认知不存在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4114800" cy="3931920"/>
          </a:xfrm>
          <a:prstGeom prst="roundRect">
            <a:avLst>
              <a:gd name="adj" fmla="val 302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0976" y="2029968"/>
            <a:ext cx="3346704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CMD 检出率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0976" y="2340864"/>
            <a:ext cx="3346704" cy="12369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845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25%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0976" y="3602736"/>
            <a:ext cx="3346704" cy="4546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5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60 / 241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0976" y="4023360"/>
            <a:ext cx="3346704" cy="914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名「对指令无可观察反应」的意识障碍患者，在任务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态 fMRI 或 EEG 上检出认知-运动分离。</a:t>
            </a:r>
            <a:endParaRPr lang="en-US" sz="13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50976" y="5029200"/>
            <a:ext cx="3346704" cy="14630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0976" y="4917186"/>
            <a:ext cx="3346704" cy="7726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阳性来源：仅 fMRI 11</a:t>
            </a:r>
            <a:endParaRPr lang="en-US" sz="1100"/>
          </a:p>
          <a:p>
            <a:pPr marL="0" indent="0" algn="l">
              <a:lnSpc>
                <a:spcPct val="14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例、仅 EEG 13 例；</a:t>
            </a:r>
            <a:endParaRPr lang="en-US" sz="11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 defTabSz="914400">
              <a:lnSpc>
                <a:spcPct val="14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两种方法均为阳性 36 例。</a:t>
            </a:r>
            <a:endParaRPr lang="en-US" sz="11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956048" y="1828800"/>
            <a:ext cx="6668719" cy="1755648"/>
          </a:xfrm>
          <a:prstGeom prst="roundRect">
            <a:avLst>
              <a:gd name="adj" fmla="val 67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285232" y="1956816"/>
            <a:ext cx="6010351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研究设计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285232" y="2286000"/>
            <a:ext cx="6337300" cy="12763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353 名意识障碍成人，2006–2023 年、6 个国际中心的前瞻性队列。</a:t>
            </a:r>
            <a:endParaRPr lang="en-US" sz="1100"/>
          </a:p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行为评估用 CRS-R，评估者盲于 fMRI/EEG 结果；只取第一天最佳表现。</a:t>
            </a:r>
            <a:endParaRPr lang="en-US" sz="11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中位年龄 37.9 岁；伤后中位 7.9 个月（26% 在 28 天内）；50% 为创伤性病因。</a:t>
            </a:r>
            <a:endParaRPr lang="en-US" sz="11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956048" y="3712464"/>
            <a:ext cx="6668719" cy="2048256"/>
          </a:xfrm>
          <a:prstGeom prst="roundRect">
            <a:avLst>
              <a:gd name="adj" fmla="val 5803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lnSpc>
                <a:spcPct val="150000"/>
              </a:lnSpc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285232" y="3877056"/>
            <a:ext cx="6010351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CMD 的操作性定义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285232" y="4206240"/>
            <a:ext cx="6010351" cy="1371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CRS-R 无指令跟随与可理解言语（听觉 &lt;3、视觉 &lt;5、口运动/言语 &lt;3、交流 &lt;1），且至少一项任务态 fMRI 或 EEG 阳性。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任务包括运动想象、视听觉辨别，需持续数分钟。</a:t>
            </a:r>
            <a:endParaRPr lang="en-US" sz="11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1 · 边界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25% 是下限，而不是上限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41248" y="2048256"/>
            <a:ext cx="2966618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D98A21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对照也只有 38% 阳性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41248" y="2743200"/>
            <a:ext cx="2966618" cy="1700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112 名可观察指令反应者中仅 43 人（38%）在任务态 fMRI/EEG 上出现对应反应。说明任务范式本身假阴性率很高。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38218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75378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612538" y="2048256"/>
            <a:ext cx="2966618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7527A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技术覆盖并不完整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12538" y="2743200"/>
            <a:ext cx="2966618" cy="1700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多数患者只做了单模态检查（仅 fMRI 或仅 EEG），而 60 例阳性里有 36 例是双模态共同检出——真实的 CMD 比例只会更高。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09509" y="1828800"/>
            <a:ext cx="3515258" cy="2798064"/>
          </a:xfrm>
          <a:prstGeom prst="roundRect">
            <a:avLst>
              <a:gd name="adj" fmla="val 424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46669" y="1920240"/>
            <a:ext cx="3240938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383829" y="2048256"/>
            <a:ext cx="2966618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B8C99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关联不等于因果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3829" y="2743200"/>
            <a:ext cx="2966618" cy="1700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CMD 与更年轻、伤后时间更长、创伤性病因相关，但这是观察性结果，不能读成因果解释。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66928" y="4937760"/>
            <a:ext cx="11057839" cy="1133856"/>
          </a:xfrm>
          <a:prstGeom prst="roundRect">
            <a:avLst>
              <a:gd name="adj" fmla="val 10483"/>
            </a:avLst>
          </a:prstGeom>
          <a:solidFill>
            <a:srgbClr val="0A1A2F">
              <a:alpha val="100000"/>
            </a:srgbClr>
          </a:solidFill>
          <a:ln w="12700">
            <a:solidFill>
              <a:srgbClr val="0A1A2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32688" y="5084064"/>
            <a:ext cx="10326319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双向边界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32688" y="5394960"/>
            <a:ext cx="10326319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4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单次阳性 ≠ 患者具有完整意识或决策能力；单次阴性 ≠ 患者没有意识。25% 描述的是一个检测结果，不是一个意识等级。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第一幕 · 01 Bodien 2024 · 框架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四层问题：从「有没有意识」到「正在意识到什么」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2599868" cy="2615184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4672" y="2066544"/>
            <a:ext cx="109093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Level 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27632" y="2066544"/>
            <a:ext cx="130142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临床可用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04672" y="2304288"/>
            <a:ext cx="21243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状态解码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4672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4672" y="28895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识别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4672" y="3127248"/>
            <a:ext cx="2324100" cy="767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UWS / MCS / CMD / LIS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4672" y="38039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证据要求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4672" y="4041648"/>
            <a:ext cx="212438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临床量表 + 任务态反应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386252" y="1828800"/>
            <a:ext cx="2599868" cy="2615184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523412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623996" y="2066544"/>
            <a:ext cx="109093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Level 2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6956" y="2066544"/>
            <a:ext cx="130142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已验证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623996" y="2304288"/>
            <a:ext cx="21243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指令解码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23996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3623996" y="28895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识别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623996" y="3127248"/>
            <a:ext cx="2324100" cy="767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左 / 右、是 / 否、运动想象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3623996" y="38039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证据要求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623996" y="4041648"/>
            <a:ext cx="212438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任务对照 + 行为锚点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05576" y="1828800"/>
            <a:ext cx="2599868" cy="2615184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342736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443320" y="2066544"/>
            <a:ext cx="109093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Level 3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266280" y="2066544"/>
            <a:ext cx="130142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健康人验证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43320" y="2304288"/>
            <a:ext cx="21243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语义解码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43320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443320" y="28895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识别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443320" y="3127248"/>
            <a:ext cx="2324100" cy="767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语言、物体、人物、自传体信息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443320" y="38039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证据要求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43320" y="4041648"/>
            <a:ext cx="212438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语义相似度 + 下游任务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024899" y="1828800"/>
            <a:ext cx="2599868" cy="27178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9162059" y="1920240"/>
            <a:ext cx="2325548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9262643" y="2066544"/>
            <a:ext cx="109093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Level 4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10085603" y="2066544"/>
            <a:ext cx="130142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概念阶段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9262643" y="2304288"/>
            <a:ext cx="21243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意识内容解码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262643" y="2798064"/>
            <a:ext cx="212438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9262643" y="28895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识别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9262643" y="3127248"/>
            <a:ext cx="2324100" cy="6400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患者当下正在体验的内容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9262643" y="3803904"/>
            <a:ext cx="2124380" cy="2324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证据要求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9262643" y="4041648"/>
            <a:ext cx="2124380" cy="4191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no-report + 意识/无意识对照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566928" y="4626864"/>
            <a:ext cx="11057839" cy="4724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难点不是线性增加的：Level 1–2 还能靠任务对照，Level 3–4 必须靠 no-report 与意识／无意识对照——变的是证据标准，不只是模型精度。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9" name="AutoShape 49"/>
          <p:cNvSpPr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把临床诊断问题（他有没有意识）转化为一个 BCI 问题：当运动输出通道失效时，能否绕过它读取认知。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4978400"/>
            <a:ext cx="12179300" cy="187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ap="flat" cmpd="sng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1335024"/>
            <a:ext cx="274320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 spc="2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第 2 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1737360"/>
            <a:ext cx="7498080" cy="9372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8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从检测到解读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2706624"/>
            <a:ext cx="786384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From detection to reconstruction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66928" y="3511296"/>
            <a:ext cx="7589520" cy="1463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550" b="0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如果患者确实在认知，下一个问题就不是「有没有」，而是「是什么」。这一步要求换掉整个范式，也第一次把「我们凭什么说这是意识」变成必须正面回答的问题。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87968" y="1920240"/>
            <a:ext cx="2444191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这一幕要交代的问题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87968" y="2298700"/>
            <a:ext cx="420624" cy="622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45168" y="2284984"/>
            <a:ext cx="2273300" cy="5532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从「患者有没有意识」到「患者正在意识到什么」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87968" y="2870200"/>
            <a:ext cx="420624" cy="622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345168" y="2870200"/>
            <a:ext cx="1986991" cy="622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能解码什么，以及解码「不能」证明什么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87968" y="3581400"/>
            <a:ext cx="420624" cy="622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45168" y="3581400"/>
            <a:ext cx="2241550" cy="622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意识必须拆成三个层次来看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887968" y="4241800"/>
            <a:ext cx="420624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345168" y="4241800"/>
            <a:ext cx="2273300" cy="5532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为什么「让患者报告」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会污染我们要测的东西</a:t>
            </a:r>
            <a:endParaRPr lang="en-US" sz="11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2 · 02 Fischer 2025 · Neurology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把问题从「有没有」换成「是什么」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0512"/>
            <a:ext cx="5193792" cy="1481328"/>
          </a:xfrm>
          <a:prstGeom prst="roundRect">
            <a:avLst>
              <a:gd name="adj" fmla="val 802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56816"/>
            <a:ext cx="45720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旧问题 · consciousness detection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249424"/>
            <a:ext cx="4572000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Does the patient have consciousness?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77824" y="2688336"/>
            <a:ext cx="4572000" cy="5532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要求患者隐蔽地执行一个指令任务（如想象打网球），再对照预期脑区。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016752" y="1810512"/>
            <a:ext cx="5605272" cy="1481328"/>
          </a:xfrm>
          <a:prstGeom prst="roundRect">
            <a:avLst>
              <a:gd name="adj" fmla="val 8025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27648" y="1956816"/>
            <a:ext cx="5029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B8C99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新问题 · consciousness reconstruction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27648" y="2249424"/>
            <a:ext cx="5029200" cy="4754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What is the patient consciously experiencing?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27648" y="2724912"/>
            <a:ext cx="5029200" cy="438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200" b="0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从脑活动中重建刺激、概念与语义内容，把意识评估从二分推向连续谱。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66928" y="3529584"/>
            <a:ext cx="11057839" cy="3479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现行范式的四个根本局限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6928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86384" y="4114800"/>
            <a:ext cx="214724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86384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灵敏度有限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86384" y="4901184"/>
            <a:ext cx="2147240" cy="8572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听懂、注意、形成正确心理表象、持续执行——任一环节失败都会造成假阴性。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390824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3610280" y="4114800"/>
            <a:ext cx="214724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10280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依赖先验神经解剖假设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610280" y="4901184"/>
            <a:ext cx="2147240" cy="8572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「想象打网球应激活运动区」这类假设，在脑网络已重组的重伤患者身上未必成立。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14720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34176" y="4114800"/>
            <a:ext cx="214724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34176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测的是任务执行能力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34176" y="4901184"/>
            <a:ext cx="2329180" cy="873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而不是患者正在经历的主观内容。</a:t>
            </a:r>
            <a:endParaRPr lang="en-US" sz="11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9038615" y="3968496"/>
            <a:ext cx="2586152" cy="1847088"/>
          </a:xfrm>
          <a:prstGeom prst="roundRect">
            <a:avLst>
              <a:gd name="adj" fmla="val 643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9258071" y="4114800"/>
            <a:ext cx="214724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258071" y="4462272"/>
            <a:ext cx="2147240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把意识建构成二分现象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9258071" y="4901184"/>
            <a:ext cx="2329180" cy="873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忽略了意识体验本身的连续谱性质。</a:t>
            </a:r>
            <a:endParaRPr lang="en-US" sz="11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文献类型：Review / Perspective。检索范围：PubMed 与 Google Scholar，1990-01 至 2024-09。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2 · 原文 Table 还原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为什么要换范式：逐条对齐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73936"/>
            <a:ext cx="5760720" cy="420624"/>
          </a:xfrm>
          <a:prstGeom prst="roundRect">
            <a:avLst>
              <a:gd name="adj" fmla="val 28261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773936"/>
            <a:ext cx="5212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现行范式的局限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28816" y="1773936"/>
            <a:ext cx="5095951" cy="420624"/>
          </a:xfrm>
          <a:prstGeom prst="roundRect">
            <a:avLst>
              <a:gd name="adj" fmla="val 28261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839712" y="1773936"/>
            <a:ext cx="4657039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解码范式的潜在解法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8368" y="240487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77824" y="2286000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fMRI 依赖先验 ROI、预设功能解剖不变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56832" y="240487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876288" y="2286000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更少依赖预设感兴趣区，可针对个体定制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66928" y="2802636"/>
            <a:ext cx="11057839" cy="525780"/>
          </a:xfrm>
          <a:prstGeom prst="roundRect">
            <a:avLst>
              <a:gd name="adj" fmla="val 22608"/>
            </a:avLst>
          </a:prstGeom>
          <a:solidFill>
            <a:srgbClr val="ECF2F7">
              <a:alpha val="100000"/>
            </a:srgbClr>
          </a:solidFill>
          <a:ln w="12700">
            <a:solidFill>
              <a:srgbClr val="ECF2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58368" y="296722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77824" y="2848356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依赖任意的统计阈值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56832" y="296722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876288" y="2848356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不依赖任意统计阈值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8368" y="3529584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77824" y="3410712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EEG 对刺激的感觉成分与语义成分归属不确定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656832" y="3529584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876288" y="3410712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分别评估感觉内容与语义内容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66928" y="3927348"/>
            <a:ext cx="11057839" cy="525780"/>
          </a:xfrm>
          <a:prstGeom prst="roundRect">
            <a:avLst>
              <a:gd name="adj" fmla="val 22608"/>
            </a:avLst>
          </a:prstGeom>
          <a:solidFill>
            <a:srgbClr val="ECF2F7">
              <a:alpha val="100000"/>
            </a:srgbClr>
          </a:solidFill>
          <a:ln w="12700">
            <a:solidFill>
              <a:srgbClr val="ECF2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8368" y="4091940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77824" y="3973068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依赖患者配合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56832" y="4091940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876288" y="3973068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更少依赖患者配合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8368" y="4654296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77824" y="4535424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把意识建构成二分现象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656832" y="4654296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876288" y="4535424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沿连续谱评估隐蔽意识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66928" y="5052060"/>
            <a:ext cx="11057839" cy="525780"/>
          </a:xfrm>
          <a:prstGeom prst="roundRect">
            <a:avLst>
              <a:gd name="adj" fmla="val 22608"/>
            </a:avLst>
          </a:prstGeom>
          <a:solidFill>
            <a:srgbClr val="ECF2F7">
              <a:alpha val="100000"/>
            </a:srgbClr>
          </a:solidFill>
          <a:ln w="12700">
            <a:solidFill>
              <a:srgbClr val="ECF2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58368" y="521665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877824" y="5097780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难以转化为 BCI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656832" y="5216652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876288" y="5097780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易于转化为脑机接口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58368" y="577900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77824" y="5660136"/>
            <a:ext cx="5349240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间接评估患者体验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656832" y="5779008"/>
            <a:ext cx="50292" cy="2331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876288" y="5660136"/>
            <a:ext cx="4602175" cy="4526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更直接地评估患者体验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566928" y="6327648"/>
            <a:ext cx="1105783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七条一一对应：这不是「换个更好的分类器」，而是把评估目标整个换掉。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第二幕 · 02 Fischer 2025 · 核心难题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能解码，不等于证明了意识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92224"/>
            <a:ext cx="5029200" cy="3759200"/>
          </a:xfrm>
          <a:prstGeom prst="roundRect">
            <a:avLst>
              <a:gd name="adj" fmla="val 316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20240"/>
            <a:ext cx="4407408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从刺激到体验，中间隔着好几步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2860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42416" y="22860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刺激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90672" y="2286000"/>
            <a:ext cx="2048256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stimulus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77824" y="27432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42416" y="27432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感觉加工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090672" y="2743200"/>
            <a:ext cx="2048256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sensory processing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77824" y="32004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42416" y="32004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语义加工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090672" y="3200400"/>
            <a:ext cx="2048256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semantic processing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7824" y="36576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42416" y="36576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注意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090672" y="3657600"/>
            <a:ext cx="2048256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attention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77824" y="4114800"/>
            <a:ext cx="4407408" cy="384048"/>
          </a:xfrm>
          <a:prstGeom prst="roundRect">
            <a:avLst>
              <a:gd name="adj" fmla="val 30952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42416" y="41148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意识通达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090672" y="4114800"/>
            <a:ext cx="2048256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access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77824" y="4572000"/>
            <a:ext cx="4407408" cy="482600"/>
          </a:xfrm>
          <a:prstGeom prst="roundRect">
            <a:avLst>
              <a:gd name="adj" fmla="val 24631"/>
            </a:avLst>
          </a:prstGeom>
          <a:solidFill>
            <a:srgbClr val="DCF1F3">
              <a:alpha val="100000"/>
            </a:srgbClr>
          </a:solidFill>
          <a:ln w="12700" cap="flat" cmpd="sng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42416" y="4572000"/>
            <a:ext cx="2011680" cy="3840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主观体验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090672" y="4572000"/>
            <a:ext cx="2048256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subjective experience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77824" y="5092700"/>
            <a:ext cx="4407408" cy="40462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5000"/>
              </a:lnSpc>
              <a:defRPr/>
            </a:pPr>
            <a:r>
              <a:rPr lang="en-US" sz="12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解码器能识别「语义加工」，但不能自动证明最后一步一定发生。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870448" y="1792224"/>
            <a:ext cx="5754319" cy="3771900"/>
          </a:xfrm>
          <a:prstGeom prst="roundRect">
            <a:avLst>
              <a:gd name="adj" fmla="val 3151"/>
            </a:avLst>
          </a:prstGeom>
          <a:solidFill>
            <a:srgbClr val="FCEEDA">
              <a:alpha val="100000"/>
            </a:srgbClr>
          </a:solidFill>
          <a:ln w="12700" cap="flat" cmpd="sng">
            <a:solidFill>
              <a:srgbClr val="D98A2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181344" y="1920240"/>
            <a:ext cx="5132527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模型预测出一个词，至少有三种解释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181344" y="2322576"/>
            <a:ext cx="5132527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① 患者确实有意识地体验了它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181344" y="2651760"/>
            <a:ext cx="5132527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这是作者希望成立、也是最有临床含义的解释。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181344" y="3236976"/>
            <a:ext cx="5132527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② 患者进行了无意识语义加工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181344" y="3566160"/>
            <a:ext cx="5132527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语义加工可以在没有意识体验的情况下发生。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181344" y="4151376"/>
            <a:ext cx="5132527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③ 模型用到了与意识无关的统计线索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181344" y="4480560"/>
            <a:ext cx="5132527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例如刺激的物理属性、注意或唤醒带来的稳定相关。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181344" y="4937760"/>
            <a:ext cx="5132527" cy="57607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所以要加入对照：no-report、masking、意识／无意识条件、客观行为锚点、跨模态验证。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BCI 的下一步不一定只是让患者「说出来」，而可能是从脑活动中推断「他正在经历什么」——但可解码 ≠ 可证明为意识。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第二幕 · 02 Fischer 2025 · 概念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neural decoding 在做什么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73936"/>
            <a:ext cx="11057839" cy="786384"/>
          </a:xfrm>
          <a:prstGeom prst="roundRect">
            <a:avLst>
              <a:gd name="adj" fmla="val 1511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59536" y="1773936"/>
            <a:ext cx="2834640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传统 task-based 范式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858768" y="1773936"/>
            <a:ext cx="745510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75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给一个指令 → 看预期脑区是否激活 → 判断「患者能否执行任务」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66928" y="2670048"/>
            <a:ext cx="11057839" cy="786384"/>
          </a:xfrm>
          <a:prstGeom prst="roundRect">
            <a:avLst>
              <a:gd name="adj" fmla="val 15115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59536" y="2670048"/>
            <a:ext cx="2834640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解码范式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858768" y="2670048"/>
            <a:ext cx="745510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75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记录脑活动 → 用模型反推刺激、概念与语义 → 判断「患者正在加工什么内容」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6928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13232" y="3675888"/>
            <a:ext cx="227982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5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刺激 / 内部状态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102788" y="3675888"/>
            <a:ext cx="256032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395396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541700" y="3675888"/>
            <a:ext cx="227982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5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脑活动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931256" y="3675888"/>
            <a:ext cx="256032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864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70168" y="3675888"/>
            <a:ext cx="2279828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5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机器学习模型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759723" y="3675888"/>
            <a:ext cx="256032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052331" y="3675888"/>
            <a:ext cx="2572436" cy="786384"/>
          </a:xfrm>
          <a:prstGeom prst="roundRect">
            <a:avLst>
              <a:gd name="adj" fmla="val 1511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198635" y="3675888"/>
            <a:ext cx="227982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ts val="165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重建：刺激、概念、语义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66928" y="4626864"/>
            <a:ext cx="11057839" cy="786384"/>
          </a:xfrm>
          <a:prstGeom prst="roundRect">
            <a:avLst>
              <a:gd name="adj" fmla="val 15115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77824" y="4626864"/>
            <a:ext cx="10436047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例：患者听到「我昨天去公园散步」 → 语义解码器 → 「公园 / 散步 / 昨天」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66928" y="5577840"/>
            <a:ext cx="11057839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关键区别：解码给出的是内容层面的证据，而不只是「脑活动增强了」——这是它比传统范式更接近「体验」的原因。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3 · 03 Kronemer 2025 · Nat Rev Neurosci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意识 BCI 为什么比普通 BCI 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0512"/>
            <a:ext cx="4206240" cy="4241800"/>
          </a:xfrm>
          <a:prstGeom prst="roundRect">
            <a:avLst>
              <a:gd name="adj" fmla="val 28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75104"/>
            <a:ext cx="3584448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先把「意识」拆成三个问题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395728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42416" y="2505456"/>
            <a:ext cx="3255264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level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42416" y="2798064"/>
            <a:ext cx="3255264" cy="4800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3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有多可能处于清醒 / 有意识状态（wakefulness、alertness）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77824" y="3456432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42416" y="3566160"/>
            <a:ext cx="3255264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state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42416" y="3858768"/>
            <a:ext cx="3255264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某一时刻整体的意识状态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77824" y="4517136"/>
            <a:ext cx="3584448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F5F8FB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42416" y="4626864"/>
            <a:ext cx="3255264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content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42416" y="4919472"/>
            <a:ext cx="3255264" cy="49377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看到、听到、想到、感觉到的具体内容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7824" y="5559552"/>
            <a:ext cx="358444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检测 level 与解码 content 是两个完全不同的问题。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47488" y="1810512"/>
            <a:ext cx="6577279" cy="2889504"/>
          </a:xfrm>
          <a:prstGeom prst="roundRect">
            <a:avLst>
              <a:gd name="adj" fmla="val 4114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376672" y="1975104"/>
            <a:ext cx="5918911" cy="3479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核心困难：ground truth 缺失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376672" y="2377440"/>
            <a:ext cx="5918911" cy="2194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42900" indent="-165100"/>
            <a:lvl2pPr marL="800100" indent="-165100"/>
            <a:lvl3pPr marL="1257300" indent="-165100"/>
            <a:lvl4pPr marL="1714500" indent="-165100"/>
            <a:lvl5pPr marL="2171700" indent="-165100"/>
            <a:lvl6pPr marL="2628900" indent="-165100"/>
            <a:lvl7pPr marL="3086100" indent="-165100"/>
            <a:lvl8pPr marL="3543300" indent="-165100"/>
            <a:lvl9pPr marL="4000500" indent="-165100"/>
          </a:lstStyle>
          <a:p>
            <a:pPr marL="342900" indent="-1651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普通 BCI 可以用行为结果作 ground truth；意识 BCI 恰恰缺这把标尺。</a:t>
            </a:r>
            <a:endParaRPr lang="en-US" sz="1100"/>
          </a:p>
          <a:p>
            <a:pPr marL="342900" indent="-1651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一个生理信号可能只对应注意、觉醒、感觉加工或运动准备，而不等于 conscious experience。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42900" indent="-1651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刺激报告本身会改变脑活动，因此需要 no-report paradigm。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42900" indent="-1651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约束条件：masking、注意力操控、no-report、跨模态验证。</a:t>
            </a:r>
            <a:endParaRPr lang="en-US" sz="125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047488" y="4846320"/>
            <a:ext cx="6577279" cy="1097280"/>
          </a:xfrm>
          <a:prstGeom prst="roundRect">
            <a:avLst>
              <a:gd name="adj" fmla="val 1083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5376672" y="4974336"/>
            <a:ext cx="5918911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伦理：mental privacy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376672" y="5266944"/>
            <a:ext cx="5918911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谁能运行 decoder、患者能否拒绝被解码、误判会不会影响医疗决策——意识 BCI 的伦理风险与运动 BCI 明显不同。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66928" y="6089904"/>
            <a:ext cx="11057839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▍本篇笔记为摘要级提取：原文与综述正文需机构订阅，以上结论基于公开摘要。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第二幕 · 03 Kronemer 2025 · 概念框架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先把「意识」拆成三个问题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59536" y="2011680"/>
            <a:ext cx="291785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level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59536" y="2340864"/>
            <a:ext cx="2917850" cy="4546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意识水平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59536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59536" y="2980944"/>
            <a:ext cx="291785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有多可能处于清醒 / 有意识状态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9536" y="3840480"/>
            <a:ext cx="291785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wakefulness、alertness、vigilance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44314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481474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36922" y="2011680"/>
            <a:ext cx="2917850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state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6922" y="2340864"/>
            <a:ext cx="2917850" cy="4546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意识状态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36922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36922" y="2980944"/>
            <a:ext cx="291785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某一时刻整体的意识状态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636922" y="3840480"/>
            <a:ext cx="291785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随时间和情境变化的状态剖面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1701" y="1828800"/>
            <a:ext cx="3503066" cy="3017520"/>
          </a:xfrm>
          <a:prstGeom prst="roundRect">
            <a:avLst>
              <a:gd name="adj" fmla="val 393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258861" y="1920240"/>
            <a:ext cx="3228746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414309" y="2011680"/>
            <a:ext cx="2917850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Conscious content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414309" y="2340864"/>
            <a:ext cx="2917850" cy="4546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意识内容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414309" y="2852928"/>
            <a:ext cx="2917850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414309" y="2980944"/>
            <a:ext cx="2917850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看到、听到、想到、感觉到的具体内容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414309" y="3840480"/>
            <a:ext cx="2917850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体验里的那个「什么」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66928" y="4937760"/>
            <a:ext cx="11057839" cy="601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4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检测 level 与解码 content 是两个完全不同的问题——不是难度的差别，而是问题本身的差别：前者问「有没有、有多少」，后者问「是什么」。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66928" y="5468112"/>
            <a:ext cx="11057839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750"/>
              </a:lnSpc>
              <a:defRPr/>
            </a:pPr>
            <a:r>
              <a:rPr lang="en-US" sz="125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一个神经或生理指标可以被叫作「意识标记物」，但必须先说清它对应三者中的哪一个——否则「alpha 功率升高」会被直接写成「意识增强」。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第二幕 · 03 Kronemer 2025 · 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为什么「让患者报告」会污染我们要测的东西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37360"/>
            <a:ext cx="11057839" cy="1280160"/>
          </a:xfrm>
          <a:prstGeom prst="roundRect">
            <a:avLst>
              <a:gd name="adj" fmla="val 9285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847088"/>
            <a:ext cx="6035040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① 传统做法：把报告也算进测量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1945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69264" y="21945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刺激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216298" y="2194560"/>
            <a:ext cx="18288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17466" y="21945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508906" y="21945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患者报告「我看到了」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755941" y="2194560"/>
            <a:ext cx="18288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957109" y="21945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48549" y="21945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脑信号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77824" y="2706624"/>
            <a:ext cx="10436047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报告这个动作本身会改变脑活动——测量动作进入了被测量的对象。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66928" y="3108960"/>
            <a:ext cx="11057839" cy="1280160"/>
          </a:xfrm>
          <a:prstGeom prst="roundRect">
            <a:avLst>
              <a:gd name="adj" fmla="val 9285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77824" y="3218688"/>
            <a:ext cx="6035040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② no-report paradigm：把报告拿出去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77824" y="35661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69264" y="35661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刺激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216298" y="3566160"/>
            <a:ext cx="18288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417466" y="35661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4508906" y="35661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脑 / 生理信号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755941" y="3566160"/>
            <a:ext cx="182880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957109" y="3566160"/>
            <a:ext cx="3356762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048549" y="3566160"/>
            <a:ext cx="3173882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不要求显性报告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77824" y="4078224"/>
            <a:ext cx="10436047" cy="2377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研究的是 consciousness 本身，而不是 reporting process。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66928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76656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04672" y="4626864"/>
            <a:ext cx="3070250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在 DoC 场景尤其关键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04672" y="4937760"/>
            <a:ext cx="307025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「能不能报告」本身就是待检验的变量，不能既当测量工具、又当结论依据。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332122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4441850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4569866" y="4626864"/>
            <a:ext cx="3070250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它剥离的是报告过程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569866" y="4937760"/>
            <a:ext cx="3070250" cy="5669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不是降低要求，而是把「报告」从信号里分离出去。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097317" y="4517136"/>
            <a:ext cx="3527450" cy="1060704"/>
          </a:xfrm>
          <a:prstGeom prst="roundRect">
            <a:avLst>
              <a:gd name="adj" fmla="val 1120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8207045" y="4645152"/>
            <a:ext cx="68580" cy="80467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8335061" y="4626864"/>
            <a:ext cx="3070250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代价是失去行为锚点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8335061" y="4937760"/>
            <a:ext cx="3070250" cy="63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因此反过来要求更强的对照设计——这正是下一页四道对照的来由。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566928" y="5724144"/>
            <a:ext cx="11057839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▍本页涉及 03 原文正文，笔记为摘要级提取：原文需机构订阅，以上为公开摘要与综述框架层面的整理。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第二幕 · 03 Kronemer 2025 · 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一条解码结果要成立，需要四道对照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4672" y="2029968"/>
            <a:ext cx="2110664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Masking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4672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同一刺激，分「被意识知觉」与「阈下」两种条件；解码性能应随意识状态系统性变化。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90824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27984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28568" y="2029968"/>
            <a:ext cx="2110664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注意力操控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28568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同一刺激，分「注意」与「非注意」；用来排除注意相关加工被误读成意识。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14720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1880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52464" y="2029968"/>
            <a:ext cx="2110664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No-report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52464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不要求患者回答，把报告过程从信号中剥离出去。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38615" y="1828800"/>
            <a:ext cx="2586152" cy="27432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175775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276359" y="2029968"/>
            <a:ext cx="2110664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跨模态验证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6359" y="2523744"/>
            <a:ext cx="2110664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EEG + fMRI + 自主神经信号同时指向同一结论，而不是单一模态自证。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66928" y="4718304"/>
            <a:ext cx="11057839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判据：如果模型在 conscious condition 下能稳定重建内容，而在 unconscious condition 下明显下降，才更可能说明解码信号与 conscious access 相关。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普通 BCI 可以用行为结果作为 ground truth；意识 BCI 恰恰面临 ground truth 缺失——这是它比普通 BCI 难的根本原因。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4892040"/>
            <a:ext cx="12179300" cy="19659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79300" cy="100584"/>
          </a:xfrm>
          <a:prstGeom prst="roundRect">
            <a:avLst>
              <a:gd name="adj" fmla="val 0"/>
            </a:avLst>
          </a:prstGeom>
          <a:solidFill>
            <a:srgbClr val="2FB8C6">
              <a:alpha val="100000"/>
            </a:srgbClr>
          </a:solidFill>
          <a:ln w="12700" cap="flat" cmpd="sng">
            <a:solidFill>
              <a:srgbClr val="2FB8C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66928" y="1335024"/>
            <a:ext cx="274320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 spc="2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第 3 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1737360"/>
            <a:ext cx="7498080" cy="9372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8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内容重建与闭环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2706624"/>
            <a:ext cx="786384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Reconstructing content, and closing the loop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66928" y="3255264"/>
            <a:ext cx="2103120" cy="36576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66928" y="3511296"/>
            <a:ext cx="7589520" cy="14630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5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当「读」这一步站稳，BCI 就从一次检查变成一条通道：语义可以被重建，语言可以流式输出，声音可以保留说话人的身份。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5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再往前一步，就是检测、干预、再检测的闭环。</a:t>
            </a:r>
            <a:endParaRPr lang="en-US" sz="155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613648" y="1737360"/>
            <a:ext cx="3011119" cy="3236976"/>
          </a:xfrm>
          <a:prstGeom prst="roundRect">
            <a:avLst>
              <a:gd name="adj" fmla="val 3948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87968" y="1920240"/>
            <a:ext cx="2444191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这一幕要交代的问题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887968" y="2336800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45168" y="2336800"/>
            <a:ext cx="1986991" cy="8191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为什么「意义」而不是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「词」才是接口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887968" y="3225800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345168" y="3225800"/>
            <a:ext cx="2241550" cy="558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流式输出与持续交互改变了什么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887968" y="3835400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345168" y="3835400"/>
            <a:ext cx="2241550" cy="2159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ts val="17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为什么必须多模态一起读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87968" y="4191000"/>
            <a:ext cx="420624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500"/>
          </a:p>
        </p:txBody>
      </p:sp>
      <p:sp>
        <p:nvSpPr>
          <p:cNvPr id="18" name="AutoShape 18"/>
          <p:cNvSpPr/>
          <p:nvPr/>
        </p:nvSpPr>
        <p:spPr>
          <a:xfrm>
            <a:off x="9345168" y="4191000"/>
            <a:ext cx="1986991" cy="5532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从检测走向闭环调控：新机会与新风险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4 · 06 Tang 2023 · Nat Neurosci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语义可以被重建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card"/>
          <p:cNvSpPr/>
          <p:nvPr/>
        </p:nvSpPr>
        <p:spPr>
          <a:xfrm>
            <a:off x="566928" y="1737360"/>
            <a:ext cx="5431536" cy="1901952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eyebrow"/>
          <p:cNvSpPr/>
          <p:nvPr/>
        </p:nvSpPr>
        <p:spPr>
          <a:xfrm>
            <a:off x="896112" y="1883664"/>
            <a:ext cx="4773168" cy="27432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3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①</a:t>
            </a:r>
            <a:r>
              <a:rPr lang="en-US" sz="13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3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问的是什么</a:t>
            </a:r>
            <a:r>
              <a:rPr lang="en-US" sz="13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· </a:t>
            </a:r>
            <a:r>
              <a:rPr lang="en-US" sz="13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非侵入式</a:t>
            </a:r>
            <a:r>
              <a:rPr lang="en-US" sz="13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fMRI</a:t>
            </a:r>
            <a:endParaRPr lang="en-US"/>
          </a:p>
        </p:txBody>
      </p:sp>
      <p:sp>
        <p:nvSpPr>
          <p:cNvPr id="9" name="bigline"/>
          <p:cNvSpPr/>
          <p:nvPr/>
        </p:nvSpPr>
        <p:spPr>
          <a:xfrm>
            <a:off x="896112" y="2194560"/>
            <a:ext cx="4773168" cy="45720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2600"/>
              </a:lnSpc>
              <a:defRPr/>
            </a:pP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从「识别」到「重建」</a:t>
            </a:r>
            <a:endParaRPr lang="en-US"/>
          </a:p>
        </p:txBody>
      </p:sp>
      <p:sp>
        <p:nvSpPr>
          <p:cNvPr id="10" name="body"/>
          <p:cNvSpPr/>
          <p:nvPr/>
        </p:nvSpPr>
        <p:spPr>
          <a:xfrm>
            <a:off x="896112" y="2706624"/>
            <a:ext cx="4773168" cy="768096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不是问「他听到了哪个词」，而是问「他理解到了什么」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——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前者是在小词表里做分类，后者才接近意识研究真正关心的那一层。</a:t>
            </a:r>
            <a:endParaRPr lang="en-US"/>
          </a:p>
        </p:txBody>
      </p:sp>
      <p:sp>
        <p:nvSpPr>
          <p:cNvPr id="11" name="card"/>
          <p:cNvSpPr/>
          <p:nvPr/>
        </p:nvSpPr>
        <p:spPr>
          <a:xfrm>
            <a:off x="6190488" y="1737360"/>
            <a:ext cx="5431536" cy="1901952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eyebrow"/>
          <p:cNvSpPr/>
          <p:nvPr/>
        </p:nvSpPr>
        <p:spPr>
          <a:xfrm>
            <a:off x="6519672" y="1883664"/>
            <a:ext cx="4773168" cy="27432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3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②</a:t>
            </a:r>
            <a:r>
              <a:rPr lang="en-US" sz="13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3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难在哪：慢信号遇上快语言</a:t>
            </a:r>
            <a:endParaRPr lang="en-US"/>
          </a:p>
        </p:txBody>
      </p:sp>
      <p:sp>
        <p:nvSpPr>
          <p:cNvPr id="13" name="bigline"/>
          <p:cNvSpPr/>
          <p:nvPr/>
        </p:nvSpPr>
        <p:spPr>
          <a:xfrm>
            <a:off x="6519672" y="2194560"/>
            <a:ext cx="4773168" cy="45720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2600"/>
              </a:lnSpc>
              <a:defRPr/>
            </a:pP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一张脑图，</a:t>
            </a:r>
            <a:r>
              <a:rPr lang="en-US" sz="22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 </a:t>
            </a: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多个词</a:t>
            </a:r>
            <a:endParaRPr lang="en-US"/>
          </a:p>
        </p:txBody>
      </p:sp>
      <p:sp>
        <p:nvSpPr>
          <p:cNvPr id="14" name="body"/>
          <p:cNvSpPr/>
          <p:nvPr/>
        </p:nvSpPr>
        <p:spPr>
          <a:xfrm>
            <a:off x="6519672" y="2706624"/>
            <a:ext cx="4773168" cy="768096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BOLD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响应要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10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秒才走完，而自然语速每秒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个词以上：每张脑图都被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20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多个词同时影响。逐词分类在这里是个病态逆问题。</a:t>
            </a:r>
            <a:endParaRPr lang="en-US"/>
          </a:p>
        </p:txBody>
      </p:sp>
      <p:sp>
        <p:nvSpPr>
          <p:cNvPr id="15" name="card"/>
          <p:cNvSpPr/>
          <p:nvPr/>
        </p:nvSpPr>
        <p:spPr>
          <a:xfrm>
            <a:off x="566928" y="3749040"/>
            <a:ext cx="5431536" cy="1901952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eyebrow"/>
          <p:cNvSpPr/>
          <p:nvPr/>
        </p:nvSpPr>
        <p:spPr>
          <a:xfrm>
            <a:off x="896112" y="3895344"/>
            <a:ext cx="4773168" cy="27432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3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③</a:t>
            </a:r>
            <a:r>
              <a:rPr lang="en-US" sz="13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3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怎么绕过去：不分类，改生成</a:t>
            </a:r>
            <a:endParaRPr lang="en-US"/>
          </a:p>
        </p:txBody>
      </p:sp>
      <p:sp>
        <p:nvSpPr>
          <p:cNvPr id="17" name="bigline"/>
          <p:cNvSpPr/>
          <p:nvPr/>
        </p:nvSpPr>
        <p:spPr>
          <a:xfrm>
            <a:off x="896112" y="4206240"/>
            <a:ext cx="4773168" cy="45720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2600"/>
              </a:lnSpc>
              <a:defRPr/>
            </a:pP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生成</a:t>
            </a:r>
            <a:r>
              <a:rPr lang="en-US" sz="22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→ </a:t>
            </a: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打分</a:t>
            </a:r>
            <a:r>
              <a:rPr lang="en-US" sz="22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→ </a:t>
            </a: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择优</a:t>
            </a:r>
            <a:endParaRPr lang="en-US"/>
          </a:p>
        </p:txBody>
      </p:sp>
      <p:sp>
        <p:nvSpPr>
          <p:cNvPr id="18" name="body"/>
          <p:cNvSpPr/>
          <p:nvPr/>
        </p:nvSpPr>
        <p:spPr>
          <a:xfrm>
            <a:off x="896112" y="4718304"/>
            <a:ext cx="4773168" cy="768096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编码模型预测脑响应，语言模型负责「像人话」，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beam search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搜索词序列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——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它输出的是一段改写过的话，不是原文转录。</a:t>
            </a:r>
            <a:endParaRPr lang="en-US"/>
          </a:p>
        </p:txBody>
      </p:sp>
      <p:sp>
        <p:nvSpPr>
          <p:cNvPr id="19" name="card"/>
          <p:cNvSpPr/>
          <p:nvPr/>
        </p:nvSpPr>
        <p:spPr>
          <a:xfrm>
            <a:off x="6190488" y="3749040"/>
            <a:ext cx="5431536" cy="1901952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eyebrow"/>
          <p:cNvSpPr/>
          <p:nvPr/>
        </p:nvSpPr>
        <p:spPr>
          <a:xfrm>
            <a:off x="6519672" y="3895344"/>
            <a:ext cx="4773168" cy="27432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600"/>
              </a:lnSpc>
              <a:defRPr/>
            </a:pPr>
            <a:r>
              <a:rPr lang="en-US" sz="13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④</a:t>
            </a:r>
            <a:r>
              <a:rPr lang="en-US" sz="13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3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结果：保住了意思，没保住字</a:t>
            </a:r>
            <a:endParaRPr lang="en-US"/>
          </a:p>
        </p:txBody>
      </p:sp>
      <p:sp>
        <p:nvSpPr>
          <p:cNvPr id="21" name="bigline"/>
          <p:cNvSpPr/>
          <p:nvPr/>
        </p:nvSpPr>
        <p:spPr>
          <a:xfrm>
            <a:off x="6519672" y="4206240"/>
            <a:ext cx="4773168" cy="457200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2600"/>
              </a:lnSpc>
              <a:defRPr/>
            </a:pPr>
            <a:r>
              <a:rPr lang="en-US" sz="22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语义成立，逐字失败</a:t>
            </a:r>
            <a:endParaRPr lang="en-US"/>
          </a:p>
        </p:txBody>
      </p:sp>
      <p:sp>
        <p:nvSpPr>
          <p:cNvPr id="22" name="body"/>
          <p:cNvSpPr/>
          <p:nvPr/>
        </p:nvSpPr>
        <p:spPr>
          <a:xfrm>
            <a:off x="6519672" y="4718304"/>
            <a:ext cx="4773168" cy="768096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72–82%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的时间点语义相似度高于随机；只看解码文本做阅读理解，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16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题答对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9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题。但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WER 0.92–0.94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，逐词正确率会低估它。</a:t>
            </a:r>
            <a:endParaRPr lang="en-US"/>
          </a:p>
        </p:txBody>
      </p:sp>
      <p:sp>
        <p:nvSpPr>
          <p:cNvPr id="23" name="band"/>
          <p:cNvSpPr/>
          <p:nvPr/>
        </p:nvSpPr>
        <p:spPr>
          <a:xfrm>
            <a:off x="566928" y="5815584"/>
            <a:ext cx="11057839" cy="598932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为什么这一步对整条线重要：运动表征只在「试图说」时出现，语义表征在「想象」时同样可及</a:t>
            </a:r>
            <a:r>
              <a:rPr lang="en-US" sz="13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——</a:t>
            </a: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这是通往无法发声者的一扇门；代价是训练必须个体化，且解码可被有意识抵抗。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06 Tang 2023 · 方法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为什么「意义」才是接口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73936"/>
            <a:ext cx="5029200" cy="1572768"/>
          </a:xfrm>
          <a:prstGeom prst="roundRect">
            <a:avLst>
              <a:gd name="adj" fmla="val 7557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20240"/>
            <a:ext cx="4407408" cy="4152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脑 → 词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340864"/>
            <a:ext cx="4407408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识别的是刺激本身：这个人听到了哪个词。仍然接近 stimulus recognition。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70448" y="1773936"/>
            <a:ext cx="5754319" cy="1572768"/>
          </a:xfrm>
          <a:prstGeom prst="roundRect">
            <a:avLst>
              <a:gd name="adj" fmla="val 7557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181344" y="1920240"/>
            <a:ext cx="5132527" cy="4152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脑 → 意义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81344" y="2340864"/>
            <a:ext cx="5132527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重建的是这个人理解到的内容。更接近高层级的认知表征，也更接近意识研究关心的东西。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6928" y="3474720"/>
            <a:ext cx="11057839" cy="4724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意识体验往往不是感官像素，而是整合后的语义与概念内容——所以语义层面的「差不多」，比逐词正确率更接近我们真正想读的东西。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66928" y="4005072"/>
            <a:ext cx="3527450" cy="2171700"/>
          </a:xfrm>
          <a:prstGeom prst="roundRect">
            <a:avLst>
              <a:gd name="adj" fmla="val 547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04088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22960" y="4206240"/>
            <a:ext cx="3015386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50" b="1" i="0" u="none" strike="noStrike">
                <a:solidFill>
                  <a:srgbClr val="1B8C99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指标选择本身就是立场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2960" y="4846320"/>
            <a:ext cx="3015386" cy="12573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不同词可以表达同一意思（“we were busy” 与 “we had a lot of work”），所以用 BERTScore 这类意义相似度衡量；用 WER 衡量会系统性低估这套系统的价值。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332122" y="4005072"/>
            <a:ext cx="3527450" cy="1773936"/>
          </a:xfrm>
          <a:prstGeom prst="roundRect">
            <a:avLst>
              <a:gd name="adj" fmla="val 67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469282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88154" y="4206240"/>
            <a:ext cx="3015386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行为学验证：解码文本真的可用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88154" y="4846320"/>
            <a:ext cx="3015386" cy="8961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只让被试阅读解码出来的文字，16 道阅读理解题中答对 9 道。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97317" y="4005072"/>
            <a:ext cx="3527450" cy="1773936"/>
          </a:xfrm>
          <a:prstGeom prst="roundRect">
            <a:avLst>
              <a:gd name="adj" fmla="val 67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234477" y="4096512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353349" y="4206240"/>
            <a:ext cx="3015386" cy="62179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50" b="1" i="0" u="none" strike="noStrike">
                <a:solidFill>
                  <a:srgbClr val="D98A21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意义是跨模态共享的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53349" y="4846320"/>
            <a:ext cx="3015386" cy="8961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听过的语言、想象说的语言、无声视频，共用同一个解码器。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04 Littlejohn 2025 · 概念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延迟不是体验问题，而是范式问题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37360"/>
            <a:ext cx="11057839" cy="1041400"/>
          </a:xfrm>
          <a:prstGeom prst="roundRect">
            <a:avLst>
              <a:gd name="adj" fmla="val 11414"/>
            </a:avLst>
          </a:prstGeom>
          <a:solidFill>
            <a:srgbClr val="FCEEDA">
              <a:alpha val="100000"/>
            </a:srgbClr>
          </a:solidFill>
          <a:ln w="12700" cap="flat" cmpd="sng">
            <a:solidFill>
              <a:srgbClr val="D98A21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792224"/>
            <a:ext cx="5120640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① 等待式：先判断有没有在说，再解码整段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32688" y="2103120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检测语音起始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54248" y="2103120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524326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579190" y="2103120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收集整段信号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00750" y="2103120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70828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5692" y="2103120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解码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647252" y="2103120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17331" y="2103120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872195" y="2103120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合成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77824" y="2546350"/>
            <a:ext cx="4953000" cy="2311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系统必须知道一句话什么时候开始、什么时候结束。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66928" y="2779776"/>
            <a:ext cx="11057839" cy="1054100"/>
          </a:xfrm>
          <a:prstGeom prst="roundRect">
            <a:avLst>
              <a:gd name="adj" fmla="val 11277"/>
            </a:avLst>
          </a:prstGeom>
          <a:solidFill>
            <a:srgbClr val="DCF1F3">
              <a:alpha val="100000"/>
            </a:srgbClr>
          </a:solidFill>
          <a:ln w="12700" cap="flat" cmpd="sng">
            <a:solidFill>
              <a:srgbClr val="1B8C9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77824" y="2834640"/>
            <a:ext cx="5120640" cy="2895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② 流式：神经流一直进，80 ms 一块地解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77824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32688" y="3145536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神经流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3354248" y="3145536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3524326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3579190" y="3145536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80 ms 分块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000750" y="3145536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170828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225692" y="3145536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在线解码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647252" y="3145536"/>
            <a:ext cx="164592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817331" y="3145536"/>
            <a:ext cx="2494712" cy="402336"/>
          </a:xfrm>
          <a:prstGeom prst="roundRect">
            <a:avLst>
              <a:gd name="adj" fmla="val 2954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872195" y="3145536"/>
            <a:ext cx="2384984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即时合成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77824" y="3594100"/>
            <a:ext cx="5080000" cy="2311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不需要独立的语音起始检测器，也不需要等一句话说完。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66928" y="3895344"/>
            <a:ext cx="3527450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704088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822960" y="4096512"/>
            <a:ext cx="301538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系统一直在听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22960" y="4517136"/>
            <a:ext cx="3015386" cy="7132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连续工作、减少等待，支持自然对话——而不是一问一答。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332122" y="3895344"/>
            <a:ext cx="3527450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4469282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4588154" y="4096512"/>
            <a:ext cx="301538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不需要开始 / 结束信号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4588154" y="4517136"/>
            <a:ext cx="3015386" cy="7132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解码器自己完成隐式的语音检测，患者不用先「启动」系统。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8097317" y="3895344"/>
            <a:ext cx="3527450" cy="1460500"/>
          </a:xfrm>
          <a:prstGeom prst="roundRect">
            <a:avLst>
              <a:gd name="adj" fmla="val 81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4" name="AutoShape 44"/>
          <p:cNvSpPr/>
          <p:nvPr/>
        </p:nvSpPr>
        <p:spPr>
          <a:xfrm>
            <a:off x="8234477" y="3986784"/>
            <a:ext cx="3253130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8353349" y="4096512"/>
            <a:ext cx="301538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关键数字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8353349" y="4517136"/>
            <a:ext cx="3015386" cy="838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80 ms 增量解码；单次推理在 80 ms 内完成的比例约 99.3%；流式约 46.5 词/分，延迟合成约 24.8 词/分。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566928" y="5614416"/>
            <a:ext cx="11057839" cy="990600"/>
          </a:xfrm>
          <a:prstGeom prst="roundRect">
            <a:avLst>
              <a:gd name="adj" fmla="val 11999"/>
            </a:avLst>
          </a:prstGeom>
          <a:solidFill>
            <a:srgbClr val="0F3A57">
              <a:alpha val="100000"/>
            </a:srgbClr>
          </a:solidFill>
          <a:ln w="12700" cap="flat" cmpd="sng">
            <a:solidFill>
              <a:srgbClr val="0F3A5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8" name="AutoShape 48"/>
          <p:cNvSpPr/>
          <p:nvPr/>
        </p:nvSpPr>
        <p:spPr>
          <a:xfrm>
            <a:off x="859536" y="5614416"/>
            <a:ext cx="129844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2231136" y="5614416"/>
            <a:ext cx="9101023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从 assessment 到 communication 的关键跨越：问题不再只是「能不能检测到」，而是「能不能持续表达」。</a:t>
            </a:r>
            <a:endParaRPr lang="en-US" sz="1100"/>
          </a:p>
        </p:txBody>
      </p:sp>
      <p:sp>
        <p:nvSpPr>
          <p:cNvPr id="50" name="AutoShape 50"/>
          <p:cNvSpPr/>
          <p:nvPr/>
        </p:nvSpPr>
        <p:spPr>
          <a:xfrm>
            <a:off x="571500" y="6121400"/>
            <a:ext cx="10414000" cy="304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06 Tang 2023 · 边界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语义解码的四个代价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4672" y="1993392"/>
            <a:ext cx="2110664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设备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4672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fMRI 需要大型设备与完全配合，无法直接做成实时临床 BCI。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390824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527984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3628568" y="1993392"/>
            <a:ext cx="2110664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训练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28568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跨被试训练的 decoder 只略高于随机，模型必须个体化，且需要被试配合。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14720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1880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52464" y="1993392"/>
            <a:ext cx="2110664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抵抗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52464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默算、默想动物、讲另一个故事，都会显著压低解码性能——解码可以被有意识地抵抗。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38615" y="1810512"/>
            <a:ext cx="2586152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175775" y="1901952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276359" y="1993392"/>
            <a:ext cx="2110664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隐私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76359" y="2450592"/>
            <a:ext cx="2110664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如果语义可以被恢复，mental privacy 就从假设变成一个现实问题。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66928" y="4059936"/>
            <a:ext cx="11057839" cy="1371600"/>
          </a:xfrm>
          <a:prstGeom prst="roundRect">
            <a:avLst>
              <a:gd name="adj" fmla="val 8667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77824" y="4187952"/>
            <a:ext cx="146304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本汇报推论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77824" y="4480560"/>
            <a:ext cx="10436047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在一篇以「能解码多少」为卖点的论文里，最有价值的证据其实是「可以被抵抗」：它证明输出真的取决于被试当下的认知状态，而不是信号里一个稳定的指纹。这也意味着，跨被试失败的结论不能直接外推到意识障碍患者——我们无从确认他们能不能表达「不合作」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语义解码目前仍是 proof of principle；真正临床可用的版本，需要把同样的能力搬到 EEG / ECoG / iEEG 上做实时解码。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5 · 04 Littlejohn 2025 &amp; 05 Wairagkar 2025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20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两条路线：流式语言 vs 直接声学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0512"/>
            <a:ext cx="5373472" cy="4041648"/>
          </a:xfrm>
          <a:prstGeom prst="roundRect">
            <a:avLst>
              <a:gd name="adj" fmla="val 294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01952"/>
            <a:ext cx="509915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77824" y="1993392"/>
            <a:ext cx="475168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 · Nature Neuroscience 2025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77824" y="2267712"/>
            <a:ext cx="475168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流式脑→语音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7824" y="2779776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记录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865376" y="2779776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高密度皮层表面电极（ECoG），重点覆盖言语感觉运动皮层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77824" y="3474720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模型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865376" y="3474720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RNN-T 类模型，按 80 ms 增量在线解码，不依赖独立的语音起始检测器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77824" y="4169664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结果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865376" y="4169664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流式合成约 46.5 词/分（延迟合成 24.8 词/分）；单次推理在 80 ms 内完成的比例约 99.3%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77824" y="4864608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代价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865376" y="4864608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1024 词通用句集上，语音 WER 中位数约 40.8%，文本约 30.7%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77824" y="5559552"/>
            <a:ext cx="475168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本篇笔记为摘要级提取。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51296" y="1810512"/>
            <a:ext cx="5373472" cy="4041648"/>
          </a:xfrm>
          <a:prstGeom prst="roundRect">
            <a:avLst>
              <a:gd name="adj" fmla="val 294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88456" y="1901952"/>
            <a:ext cx="509915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562192" y="1993392"/>
            <a:ext cx="475168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 · Nature 2025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62192" y="2267712"/>
            <a:ext cx="475168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即时声音合成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562192" y="2779776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记录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549744" y="2779776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皮层内 4 个微电极阵列共 256 个电极，约 1 ms 数据包实时进入系统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562192" y="3474720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模型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549744" y="3474720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Transformer 直接预测声学语音特征，再驱动合成器输出声音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62192" y="4169664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结果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549744" y="4169664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6 选 1 句子匹配平均准确率 94.34%；合成语音 WER 43.75%，而患者自身残余语音为 96.43%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6562192" y="4864608"/>
            <a:ext cx="914400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边界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549744" y="4864608"/>
            <a:ext cx="3764128" cy="6766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因果（实时）合成质量仍低于事后合成（倒谱失真 2.9 对 2.4）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562192" y="5559552"/>
            <a:ext cx="475168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基于本地全文，含作者自陈局限。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66928" y="5998464"/>
            <a:ext cx="11057839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共同结论：BCI 已从「解码想移动什么」走到「解码想说什么，以及声音该怎么表达」。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05 Wairagkar 2025 · Nature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声音不只是「说了什么」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92224"/>
            <a:ext cx="4206240" cy="3968496"/>
          </a:xfrm>
          <a:prstGeom prst="roundRect">
            <a:avLst>
              <a:gd name="adj" fmla="val 3154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59536" y="1803400"/>
            <a:ext cx="3621024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语言有很多层级，这项研究抓的是最后一段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59536" y="23042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24128" y="23042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thought 想法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59536" y="27614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24128" y="27614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semantic 语义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9536" y="32186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24128" y="32186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linguistic 语言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59536" y="36758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24128" y="36758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phonological 音位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59536" y="41330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24128" y="41330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articulatory 发音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59536" y="4590288"/>
            <a:ext cx="3621024" cy="402336"/>
          </a:xfrm>
          <a:prstGeom prst="roundRect">
            <a:avLst>
              <a:gd name="adj" fmla="val 29544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24128" y="4590288"/>
            <a:ext cx="3291840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acoustic 声学</a:t>
            </a:r>
            <a:endParaRPr lang="en-US" sz="1100"/>
          </a:p>
        </p:txBody>
      </p:sp>
      <p:sp>
        <p:nvSpPr>
          <p:cNvPr id="21" name="laddernote"/>
          <p:cNvSpPr/>
          <p:nvPr/>
        </p:nvSpPr>
        <p:spPr>
          <a:xfrm>
            <a:off x="859536" y="5084064"/>
            <a:ext cx="3621024" cy="566928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本研究停在最后一段：从发音相关的神经表征直接预测声学输出。</a:t>
            </a:r>
            <a:endParaRPr lang="en-US"/>
          </a:p>
        </p:txBody>
      </p:sp>
      <p:sp>
        <p:nvSpPr>
          <p:cNvPr id="22" name="card"/>
          <p:cNvSpPr/>
          <p:nvPr/>
        </p:nvSpPr>
        <p:spPr>
          <a:xfrm>
            <a:off x="4956048" y="1792224"/>
            <a:ext cx="6665976" cy="9144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3" name="capsule"/>
          <p:cNvSpPr/>
          <p:nvPr/>
        </p:nvSpPr>
        <p:spPr>
          <a:xfrm>
            <a:off x="5065776" y="1920240"/>
            <a:ext cx="68580" cy="658368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</p:sp>
      <p:sp>
        <p:nvSpPr>
          <p:cNvPr id="24" name="cardtitle"/>
          <p:cNvSpPr/>
          <p:nvPr/>
        </p:nvSpPr>
        <p:spPr>
          <a:xfrm>
            <a:off x="5230368" y="1856232"/>
            <a:ext cx="6117336" cy="292608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900"/>
              </a:lnSpc>
              <a:defRPr/>
            </a:pPr>
            <a:r>
              <a:rPr lang="en-US" sz="16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①</a:t>
            </a:r>
            <a:r>
              <a:rPr lang="en-US" sz="16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为什么不再满足于「变成文字」</a:t>
            </a:r>
            <a:endParaRPr lang="en-US"/>
          </a:p>
        </p:txBody>
      </p:sp>
      <p:sp>
        <p:nvSpPr>
          <p:cNvPr id="25" name="cardbody"/>
          <p:cNvSpPr/>
          <p:nvPr/>
        </p:nvSpPr>
        <p:spPr>
          <a:xfrm>
            <a:off x="5230368" y="2194560"/>
            <a:ext cx="6117336" cy="461772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文字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BCI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解决的是「说清楚」；它丢掉了韵律，也丢掉了边说边听见自己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——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而这两样才是自然交谈的前提。</a:t>
            </a:r>
            <a:endParaRPr lang="en-US"/>
          </a:p>
        </p:txBody>
      </p:sp>
      <p:sp>
        <p:nvSpPr>
          <p:cNvPr id="26" name="card"/>
          <p:cNvSpPr/>
          <p:nvPr/>
        </p:nvSpPr>
        <p:spPr>
          <a:xfrm>
            <a:off x="4956048" y="2807208"/>
            <a:ext cx="6665976" cy="9144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capsule"/>
          <p:cNvSpPr/>
          <p:nvPr/>
        </p:nvSpPr>
        <p:spPr>
          <a:xfrm>
            <a:off x="5065776" y="2935224"/>
            <a:ext cx="68580" cy="658368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</p:sp>
      <p:sp>
        <p:nvSpPr>
          <p:cNvPr id="28" name="cardtitle"/>
          <p:cNvSpPr/>
          <p:nvPr/>
        </p:nvSpPr>
        <p:spPr>
          <a:xfrm>
            <a:off x="5230368" y="2871216"/>
            <a:ext cx="6117336" cy="292608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9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②</a:t>
            </a:r>
            <a:r>
              <a:rPr lang="en-US" sz="16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难在哪：连标准答案都没有</a:t>
            </a:r>
            <a:endParaRPr lang="en-US"/>
          </a:p>
        </p:txBody>
      </p:sp>
      <p:sp>
        <p:nvSpPr>
          <p:cNvPr id="29" name="cardbody"/>
          <p:cNvSpPr/>
          <p:nvPr/>
        </p:nvSpPr>
        <p:spPr>
          <a:xfrm>
            <a:off x="5230368" y="3209544"/>
            <a:ext cx="6117336" cy="461772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患者已经说不清，没人知道他打算何时说、说什么。作者改用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TTS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生成目标语音当标签，再从神经活动本身反推音节边界来做对齐。</a:t>
            </a:r>
            <a:endParaRPr lang="en-US"/>
          </a:p>
        </p:txBody>
      </p:sp>
      <p:sp>
        <p:nvSpPr>
          <p:cNvPr id="30" name="card"/>
          <p:cNvSpPr/>
          <p:nvPr/>
        </p:nvSpPr>
        <p:spPr>
          <a:xfrm>
            <a:off x="4956048" y="3831336"/>
            <a:ext cx="6665976" cy="9144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capsule"/>
          <p:cNvSpPr/>
          <p:nvPr/>
        </p:nvSpPr>
        <p:spPr>
          <a:xfrm>
            <a:off x="5065776" y="3959352"/>
            <a:ext cx="68580" cy="658368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</p:sp>
      <p:sp>
        <p:nvSpPr>
          <p:cNvPr id="32" name="cardtitle"/>
          <p:cNvSpPr/>
          <p:nvPr/>
        </p:nvSpPr>
        <p:spPr>
          <a:xfrm>
            <a:off x="5230368" y="3895344"/>
            <a:ext cx="6117336" cy="292608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900"/>
              </a:lnSpc>
              <a:defRPr/>
            </a:pPr>
            <a:r>
              <a:rPr lang="en-US" sz="16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③</a:t>
            </a:r>
            <a:r>
              <a:rPr lang="en-US" sz="16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怎么做：只看过去</a:t>
            </a:r>
            <a:r>
              <a:rPr lang="en-US" sz="16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10 ms</a:t>
            </a:r>
            <a:endParaRPr lang="en-US"/>
          </a:p>
        </p:txBody>
      </p:sp>
      <p:sp>
        <p:nvSpPr>
          <p:cNvPr id="33" name="cardbody"/>
          <p:cNvSpPr/>
          <p:nvPr/>
        </p:nvSpPr>
        <p:spPr>
          <a:xfrm>
            <a:off x="5230368" y="4233672"/>
            <a:ext cx="6117336" cy="461772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只取过去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10 ms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的神经信号做因果解码，直接预测频谱与音高再交给合成器；不必等整句说完，也不经过文字、词表或离散音素。</a:t>
            </a:r>
            <a:endParaRPr lang="en-US"/>
          </a:p>
        </p:txBody>
      </p:sp>
      <p:sp>
        <p:nvSpPr>
          <p:cNvPr id="34" name="card"/>
          <p:cNvSpPr/>
          <p:nvPr/>
        </p:nvSpPr>
        <p:spPr>
          <a:xfrm>
            <a:off x="4956048" y="4846320"/>
            <a:ext cx="6665976" cy="914400"/>
          </a:xfrm>
          <a:prstGeom prst="roundRect">
            <a:avLst>
              <a:gd name="adj" fmla="val 555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capsule"/>
          <p:cNvSpPr/>
          <p:nvPr/>
        </p:nvSpPr>
        <p:spPr>
          <a:xfrm>
            <a:off x="5065776" y="4974336"/>
            <a:ext cx="68580" cy="658368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</p:sp>
      <p:sp>
        <p:nvSpPr>
          <p:cNvPr id="36" name="cardtitle"/>
          <p:cNvSpPr/>
          <p:nvPr/>
        </p:nvSpPr>
        <p:spPr>
          <a:xfrm>
            <a:off x="5230368" y="4910328"/>
            <a:ext cx="6117336" cy="292608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ts val="1900"/>
              </a:lnSpc>
              <a:defRPr/>
            </a:pPr>
            <a:r>
              <a:rPr lang="en-US" sz="16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④</a:t>
            </a:r>
            <a:r>
              <a:rPr lang="en-US" sz="16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拿到什么</a:t>
            </a:r>
            <a:endParaRPr lang="en-US"/>
          </a:p>
        </p:txBody>
      </p:sp>
      <p:sp>
        <p:nvSpPr>
          <p:cNvPr id="37" name="cardbody"/>
          <p:cNvSpPr/>
          <p:nvPr/>
        </p:nvSpPr>
        <p:spPr>
          <a:xfrm>
            <a:off x="5230368" y="5248656"/>
            <a:ext cx="6117336" cy="461772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选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1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句子匹配平均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94.34%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；合成语音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WER 43.75%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，而他本人残余说话是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96.43%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。作者也承认代价：因果合成质量仍略低于事后合成（倒谱失真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2.9 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对</a:t>
            </a: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2.4</a:t>
            </a: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）。</a:t>
            </a:r>
            <a:endParaRPr lang="en-US"/>
          </a:p>
        </p:txBody>
      </p:sp>
      <p:sp>
        <p:nvSpPr>
          <p:cNvPr id="38" name="band"/>
          <p:cNvSpPr/>
          <p:nvPr/>
        </p:nvSpPr>
        <p:spPr>
          <a:xfrm>
            <a:off x="566928" y="5852160"/>
            <a:ext cx="11057839" cy="598932"/>
          </a:xfrm>
          <a:prstGeom prst="rect">
            <a:avLst/>
          </a:prstGeom>
          <a:noFill/>
          <a:ln w="12687">
            <a:noFill/>
            <a:prstDash val="solid"/>
          </a:ln>
        </p:spPr>
        <p:txBody>
          <a:bodyPr vert="horz" wrap="square" lIns="0" tIns="0" rIns="0" bIns="0" rtlCol="0" anchor="t" anchorCtr="0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文字</a:t>
            </a:r>
            <a:r>
              <a:rPr lang="en-US" sz="13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BCI </a:t>
            </a: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做不到的三件事：词表外与拟声（这些类别根本没参与训练）；默说也能合成（</a:t>
            </a:r>
            <a:r>
              <a:rPr lang="en-US" sz="13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 = 0.82</a:t>
            </a: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，参与者说更省力）；副语言与身份</a:t>
            </a:r>
            <a:r>
              <a:rPr lang="en-US" sz="13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——</a:t>
            </a:r>
            <a:r>
              <a:rPr lang="en-US" sz="1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语调、重音、音高可实时调制，还能唱短旋律，听到的是「我自己的声音」。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05 Wairagkar 2025 · Nature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一个反直觉的发现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5120640"/>
            <a:ext cx="12179300" cy="173736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566928" y="1883664"/>
            <a:ext cx="5029200" cy="1737360"/>
          </a:xfrm>
          <a:prstGeom prst="roundRect">
            <a:avLst>
              <a:gd name="adj" fmla="val 6841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32688" y="2029968"/>
            <a:ext cx="429768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output-potent 维度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2688" y="2304288"/>
            <a:ext cx="2011680" cy="8153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5300" b="1" i="0" u="none" strike="noStrike">
                <a:solidFill>
                  <a:srgbClr val="EAF2F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2.5%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35808" y="2651760"/>
            <a:ext cx="228600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的神经活动方差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32688" y="3145536"/>
            <a:ext cx="429768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解码相关系数 r = 0.82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833872" y="1883664"/>
            <a:ext cx="5788152" cy="1737360"/>
          </a:xfrm>
          <a:prstGeom prst="roundRect">
            <a:avLst>
              <a:gd name="adj" fmla="val 6841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199632" y="2029968"/>
            <a:ext cx="5029200" cy="29260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output-null 维度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199632" y="2304288"/>
            <a:ext cx="2084832" cy="8128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4600" b="1" i="0" u="none" strike="noStrike">
                <a:solidFill>
                  <a:srgbClr val="EAF2F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97.5%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57616" y="2651760"/>
            <a:ext cx="292608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的神经活动方差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99632" y="3145536"/>
            <a:ext cx="5029200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解码相关系数 r = 0.85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66928" y="3840480"/>
            <a:ext cx="11057839" cy="1298448"/>
          </a:xfrm>
          <a:prstGeom prst="roundRect">
            <a:avLst>
              <a:gd name="adj" fmla="val 915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932688" y="4005072"/>
            <a:ext cx="10326319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只占 2.5% 方差的「输出相关」维度，解码效果几乎与占 97.5% 方差的「输出无关」维度相当。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32688" y="4462272"/>
            <a:ext cx="10326319" cy="60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50" b="0" i="0" u="none" strike="noStrike">
                <a:solidFill>
                  <a:srgbClr val="9FB4C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作者的解释：言语运动皮层的多数活动并不直接驱动发声，而是在为整句做计划与缓冲（「整句缓冲、逐渐清空」）。这部分「看不见的输出」，反而给因果解码提供了提前量。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66928" y="5358384"/>
            <a:ext cx="11057839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对工程的意义：低时延解码之所以可行，靠的可能正是这部分「准备性活动」。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6 · 07 du Bois 2026 · Communications Medicine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从概念验证走向床旁系统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41248" y="1847088"/>
            <a:ext cx="2991002" cy="6184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44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41248" y="2468880"/>
            <a:ext cx="2991002" cy="5852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名参与者：UWS 14 / MCS 17 / LIS 11，另 2 名健全者作基准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26026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00346" y="1847088"/>
            <a:ext cx="2991002" cy="6184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73.8%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00346" y="2468880"/>
            <a:ext cx="2991002" cy="5852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65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的患者获得显著的运动想象 BCI 解码准确率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85125" y="1755648"/>
            <a:ext cx="3539642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359445" y="1847088"/>
            <a:ext cx="2991002" cy="6184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90%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59445" y="2468880"/>
            <a:ext cx="2991002" cy="58521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的显著者进入问答阶段，常超过 70% 的可用性阈值</a:t>
            </a:r>
            <a:endParaRPr lang="en-US" sz="1100"/>
          </a:p>
        </p:txBody>
      </p:sp>
      <p:graphicFrame>
        <p:nvGraphicFramePr>
          <p:cNvPr id="16" name="Chart 16"/>
          <p:cNvGraphicFramePr>
            <a:graphicFrameLocks noGrp="1"/>
          </p:cNvGraphicFramePr>
          <p:nvPr/>
        </p:nvGraphicFramePr>
        <p:xfrm>
          <a:off x="475488" y="3291840"/>
          <a:ext cx="5806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AutoShape 16"/>
          <p:cNvSpPr/>
          <p:nvPr/>
        </p:nvSpPr>
        <p:spPr>
          <a:xfrm>
            <a:off x="6510528" y="3291840"/>
            <a:ext cx="5114239" cy="2743200"/>
          </a:xfrm>
          <a:prstGeom prst="roundRect">
            <a:avLst>
              <a:gd name="adj" fmla="val 433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7"/>
          <p:cNvSpPr/>
          <p:nvPr/>
        </p:nvSpPr>
        <p:spPr>
          <a:xfrm>
            <a:off x="6821424" y="3438144"/>
            <a:ext cx="4492447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最锋利的一处：与行为学不共线</a:t>
            </a:r>
            <a:endParaRPr lang="en-US" sz="1100"/>
          </a:p>
        </p:txBody>
      </p:sp>
      <p:sp>
        <p:nvSpPr>
          <p:cNvPr id="19" name="AutoShape 18"/>
          <p:cNvSpPr/>
          <p:nvPr/>
        </p:nvSpPr>
        <p:spPr>
          <a:xfrm>
            <a:off x="6821424" y="3822192"/>
            <a:ext cx="4492447" cy="21031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解码准确率与 WHIM 显著相关（偏相关 r = 0.43，p = 0.02），与 CRS-R 无关（p = 0.89）。</a:t>
            </a:r>
            <a:endParaRPr lang="en-US" sz="1100"/>
          </a:p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单模态排名：WHIM 59.4% ＞ DA 57.3% ＞ CRS-R 49.4%——行为学金标准 CRS-R 反而是三者中最弱。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收益集中在 MCS：灵敏度 39% → 69%；LIS 反而略降（78% → 67%），提示 LIS 仍以 DA 单独预测最好。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07 du Bois 2026 · 临床应用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意识评估不是一次横断面检查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0512"/>
            <a:ext cx="5029200" cy="2103120"/>
          </a:xfrm>
          <a:prstGeom prst="roundRect">
            <a:avLst>
              <a:gd name="adj" fmla="val 5651"/>
            </a:avLst>
          </a:prstGeom>
          <a:solidFill>
            <a:srgbClr val="FCEEDA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38528"/>
            <a:ext cx="4407408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一次性检查的三种失败模式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322576"/>
            <a:ext cx="4407408" cy="14630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疲劳：越到测试后段，表现越差。</a:t>
            </a:r>
            <a:endParaRPr lang="en-US" sz="1100"/>
          </a:p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注意波动：单次测量的信噪比本就很低。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单次阴性：很容易被读成「无意识」，于是把「这一次没测到」当成「没有」。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870448" y="1810512"/>
            <a:ext cx="5754319" cy="2103120"/>
          </a:xfrm>
          <a:prstGeom prst="roundRect">
            <a:avLst>
              <a:gd name="adj" fmla="val 56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181344" y="1938528"/>
            <a:ext cx="5132527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结构化、多阶段的交互方案（44 人）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81344" y="2322576"/>
            <a:ext cx="5132527" cy="1549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阶段推进：感觉运动节律调制 → BCI 训练 → 有 / 无神经反馈训练 → 二选一问答。</a:t>
            </a:r>
            <a:endParaRPr lang="en-US" sz="1100"/>
          </a:p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每次会话同步做 CRS-R 与 WHIM 行为学评估，两种尺子都留着。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73.8% 的患者达到显著的解码准确率，其中 90% 进入问答阶段。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66928" y="4041648"/>
            <a:ext cx="11057839" cy="1371600"/>
          </a:xfrm>
          <a:prstGeom prst="roundRect">
            <a:avLst>
              <a:gd name="adj" fmla="val 86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77824" y="4151376"/>
            <a:ext cx="5486400" cy="30988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从「检查」到「对话」：交互回路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7782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32688" y="4480560"/>
            <a:ext cx="1860438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系统发出指令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829702" y="4480560"/>
            <a:ext cx="164592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99429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3049158" y="4480560"/>
            <a:ext cx="1860438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患者产生内部反应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946172" y="4480560"/>
            <a:ext cx="164592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110764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165628" y="4480560"/>
            <a:ext cx="1860438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EEG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062643" y="4480560"/>
            <a:ext cx="164592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227235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282099" y="4480560"/>
            <a:ext cx="1860438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decoder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9179113" y="4480560"/>
            <a:ext cx="164592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343705" y="4480560"/>
            <a:ext cx="1970166" cy="420624"/>
          </a:xfrm>
          <a:prstGeom prst="roundRect">
            <a:avLst>
              <a:gd name="adj" fmla="val 28261"/>
            </a:avLst>
          </a:prstGeom>
          <a:solidFill>
            <a:srgbClr val="DCF1F3">
              <a:alpha val="100000"/>
            </a:srgbClr>
          </a:solidFill>
          <a:ln w="12700">
            <a:solidFill>
              <a:srgbClr val="DCF1F3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398569" y="4480560"/>
            <a:ext cx="1860438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系统继续交互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77824" y="4901184"/>
            <a:ext cx="10436047" cy="4617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本汇报推论：这把「一次表现」换成「随时间的可重复性」，等于把单次阴性从「证据」降级为「一个事件」。04 的流式与 07 的持续交互其实是同一件事的两个层面——一个是通道连续，一个是关系连续。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59536" y="5614416"/>
            <a:ext cx="1298448" cy="8229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2231136" y="5614416"/>
            <a:ext cx="9101023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意识 BCI 正从实验室的 EEG 范式，走向 wearable、interactive、bedside 的系统。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第三幕 · 08 Kordas 2026 · 多模态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为什么必须一起读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92224"/>
            <a:ext cx="5029200" cy="2450592"/>
          </a:xfrm>
          <a:prstGeom prst="roundRect">
            <a:avLst>
              <a:gd name="adj" fmla="val 485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77824" y="1920240"/>
            <a:ext cx="4407408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单一模态各自的边界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77824" y="2286000"/>
            <a:ext cx="822960" cy="5669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EEG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773936" y="2286000"/>
            <a:ext cx="3784600" cy="19189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时间分辨率高、可床旁；但空间分辨率有限，且背景活动异常时信号质量差。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77824" y="2926080"/>
            <a:ext cx="822960" cy="5669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fMRI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73936" y="2926080"/>
            <a:ext cx="3784600" cy="127889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空间分辨率高；但时间分辨率差、不可移动，重症患者转运困难。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77824" y="3566160"/>
            <a:ext cx="822960" cy="56692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fNIRS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73936" y="3566160"/>
            <a:ext cx="3784600" cy="6388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可便携、可在床旁重复、能结合主动范式；但只是间接的血流动力学指标。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870448" y="1792224"/>
            <a:ext cx="5754319" cy="2450592"/>
          </a:xfrm>
          <a:prstGeom prst="roundRect">
            <a:avLst>
              <a:gd name="adj" fmla="val 4851"/>
            </a:avLst>
          </a:prstGeom>
          <a:solidFill>
            <a:srgbClr val="E7EFF6">
              <a:alpha val="100000"/>
            </a:srgbClr>
          </a:solidFill>
          <a:ln w="12700">
            <a:solidFill>
              <a:srgbClr val="E7EFF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181344" y="1920240"/>
            <a:ext cx="5132527" cy="31877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融合的目标：把各自的盲区互相补上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181344" y="2286000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36208" y="2286000"/>
            <a:ext cx="150357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EEG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940954" y="2286000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995818" y="2286000"/>
            <a:ext cx="150357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fMRI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700565" y="2286000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755429" y="2286000"/>
            <a:ext cx="150357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fNIRS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181344" y="2852928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236208" y="2852928"/>
            <a:ext cx="150357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生理信号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940954" y="2852928"/>
            <a:ext cx="1613306" cy="457200"/>
          </a:xfrm>
          <a:prstGeom prst="roundRect">
            <a:avLst>
              <a:gd name="adj" fmla="val 25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995818" y="2852928"/>
            <a:ext cx="150357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行为学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181344" y="3493008"/>
            <a:ext cx="5132527" cy="6400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5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AI 融合 → 多模态认知状态评估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566928" y="4389120"/>
            <a:ext cx="11057839" cy="1168400"/>
          </a:xfrm>
          <a:prstGeom prst="roundRect">
            <a:avLst>
              <a:gd name="adj" fmla="val 1017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77824" y="4517136"/>
            <a:ext cx="10436047" cy="101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作者明确限定：自主神经指标（心率变异性、压力反射指数）是觉醒与投入的辅助生理背景，不是意识的直接标志物。</a:t>
            </a:r>
            <a:endParaRPr lang="en-US" sz="1100"/>
          </a:p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16222E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本汇报推论：单一模态的阴性结果，无法区分「没有意识」和「这个模态看不到」——这正是必须多模态的根本理由，而不是把准确率再抬几个百分点。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观点 7 · 08 Kordas 2026 · J Clin Med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27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下一阶段：多模态 + AI + 个体化 + 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737360"/>
            <a:ext cx="11057839" cy="3289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从诊断到交流：五个阶段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66928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77824" y="2130552"/>
            <a:ext cx="1882384" cy="23774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3E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77824" y="2368296"/>
            <a:ext cx="186409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意识状态分类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723632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034528" y="2130552"/>
            <a:ext cx="1882384" cy="23774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3E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2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034528" y="2368296"/>
            <a:ext cx="186409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隐蔽指令检测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880336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191232" y="2130552"/>
            <a:ext cx="1882384" cy="23774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3E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191232" y="2368296"/>
            <a:ext cx="186409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是 / 否 交流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037040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347936" y="2130552"/>
            <a:ext cx="1882384" cy="23774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3E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347936" y="2368296"/>
            <a:ext cx="186409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语义解码 → 语言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93743" y="2048256"/>
            <a:ext cx="2431024" cy="749808"/>
          </a:xfrm>
          <a:prstGeom prst="chevron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04639" y="2130552"/>
            <a:ext cx="1882384" cy="23774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CFE3E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Stage 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04639" y="2368296"/>
            <a:ext cx="1864096" cy="3657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黑体"/>
                <a:ea typeface="黑体"/>
                <a:cs typeface="黑体"/>
                <a:sym typeface="黑体"/>
              </a:rPr>
              <a:t>意识内容 → 交流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66928" y="3072384"/>
            <a:ext cx="6903720" cy="2743200"/>
          </a:xfrm>
          <a:prstGeom prst="roundRect">
            <a:avLst>
              <a:gd name="adj" fmla="val 433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96112" y="3218688"/>
            <a:ext cx="6217920" cy="3289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从检测到闭环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9611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69264" y="3694176"/>
            <a:ext cx="987552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脑信号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2011680" y="3694176"/>
            <a:ext cx="182880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17627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2249424" y="3694176"/>
            <a:ext cx="987552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AI 解码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3291840" y="3694176"/>
            <a:ext cx="182880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345643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3529584" y="3694176"/>
            <a:ext cx="987552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意识状态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4572000" y="3694176"/>
            <a:ext cx="182880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473659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4809744" y="3694176"/>
            <a:ext cx="987552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神经调控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852160" y="3694176"/>
            <a:ext cx="182880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6016752" y="3694176"/>
            <a:ext cx="1133856" cy="932688"/>
          </a:xfrm>
          <a:prstGeom prst="roundRect">
            <a:avLst>
              <a:gd name="adj" fmla="val 12745"/>
            </a:avLst>
          </a:prstGeom>
          <a:solidFill>
            <a:srgbClr val="F5F8FB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089904" y="3694176"/>
            <a:ext cx="987552" cy="9326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再评估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96112" y="4846320"/>
            <a:ext cx="6254496" cy="8229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BCI 不再只是被动测量，而可能成为「评估 + 干预」系统：检测 → 干预 → 再检测。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744968" y="3072384"/>
            <a:ext cx="3879799" cy="3098800"/>
          </a:xfrm>
          <a:prstGeom prst="roundRect">
            <a:avLst>
              <a:gd name="adj" fmla="val 3835"/>
            </a:avLst>
          </a:prstGeom>
          <a:solidFill>
            <a:srgbClr val="E7EFF6">
              <a:alpha val="100000"/>
            </a:srgbClr>
          </a:solidFill>
          <a:ln w="12700" cap="flat" cmpd="sng">
            <a:solidFill>
              <a:srgbClr val="E7EFF6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8055864" y="3218688"/>
            <a:ext cx="3258007" cy="3289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AI 在其中的四个角色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055864" y="3639312"/>
            <a:ext cx="1371600" cy="4754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特征提取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500616" y="3429127"/>
            <a:ext cx="2086610" cy="5532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频谱、连接性、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时间动态、网络表征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8055864" y="4169664"/>
            <a:ext cx="1371600" cy="4754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表征学习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9500616" y="3982339"/>
            <a:ext cx="2086610" cy="5532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寻找可迁移的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神经状态表征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8055864" y="4700016"/>
            <a:ext cx="1371600" cy="4754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多模态融合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9500616" y="4626356"/>
            <a:ext cx="2120900" cy="4434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2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EEG / fMRI / fNIRS / 生理 / 行为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8055864" y="5230368"/>
            <a:ext cx="1371600" cy="47548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个体化解码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9500616" y="5000625"/>
            <a:ext cx="2120900" cy="3703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不同患者损伤位置不同，需要患者级适配</a:t>
            </a:r>
            <a:endParaRPr lang="en-US" sz="12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第三幕 · 08 Kordas 2026 · 闭环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28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从检测到闭环：把「测量」和「干预」绑在一起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5394960"/>
            <a:ext cx="12179300" cy="146304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566928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1792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脑信号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144725" y="1773936"/>
            <a:ext cx="20116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336749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391613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AI 解码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914546" y="1773936"/>
            <a:ext cx="20116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106570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161434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意识状态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684368" y="1773936"/>
            <a:ext cx="20116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876392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931256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D98A21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神经调控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54189" y="1773936"/>
            <a:ext cx="20116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46213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701077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新的大脑状态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24010" y="1773936"/>
            <a:ext cx="201168" cy="7863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→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416034" y="1773936"/>
            <a:ext cx="1586941" cy="786384"/>
          </a:xfrm>
          <a:prstGeom prst="roundRect">
            <a:avLst>
              <a:gd name="adj" fmla="val 1511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470898" y="1773936"/>
            <a:ext cx="1477213" cy="7863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 defTabSz="914400">
              <a:lnSpc>
                <a:spcPts val="1600"/>
              </a:lnSpc>
              <a:defRPr/>
            </a:pPr>
            <a:r>
              <a:rPr lang="en-US" sz="1250" b="1" i="0" u="none" strike="noStrike">
                <a:solidFill>
                  <a:srgbClr val="EAF2F8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再评估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66928" y="2688336"/>
            <a:ext cx="11057839" cy="457200"/>
          </a:xfrm>
          <a:prstGeom prst="roundRect">
            <a:avLst>
              <a:gd name="adj" fmla="val 25999"/>
            </a:avLst>
          </a:prstGeom>
          <a:solidFill>
            <a:srgbClr val="0A1A2F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41248" y="2688336"/>
            <a:ext cx="10509199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检测 → 干预 → 再检测：BCI 不再只是被动测量，而可能成为「评估 + 干预」系统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66928" y="3273552"/>
            <a:ext cx="5382616" cy="2222500"/>
          </a:xfrm>
          <a:prstGeom prst="roundRect">
            <a:avLst>
              <a:gd name="adj" fmla="val 5348"/>
            </a:avLst>
          </a:prstGeom>
          <a:solidFill>
            <a:srgbClr val="13293F">
              <a:alpha val="100000"/>
            </a:srgbClr>
          </a:solidFill>
          <a:ln w="12700" cap="flat" cmpd="sng">
            <a:solidFill>
              <a:srgbClr val="24405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59536" y="3401568"/>
            <a:ext cx="4797400" cy="3289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闭环解决了什么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59536" y="3749040"/>
            <a:ext cx="4622800" cy="133045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04800" indent="-127000"/>
            <a:lvl2pPr marL="762000" indent="-127000"/>
            <a:lvl3pPr marL="1219200" indent="-127000"/>
            <a:lvl4pPr marL="1676400" indent="-127000"/>
            <a:lvl5pPr marL="2133600" indent="-127000"/>
            <a:lvl6pPr marL="2590800" indent="-127000"/>
            <a:lvl7pPr marL="3048000" indent="-127000"/>
            <a:lvl8pPr marL="3505200" indent="-127000"/>
            <a:lvl9pPr marL="3962400" indent="-127000"/>
          </a:lstStyle>
          <a:p>
            <a:pPr marL="304800" indent="-127000" algn="l" defTabSz="914400">
              <a:lnSpc>
                <a:spcPct val="1500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把「相关」变成「因果」：如果调控改变了信号、信号变化又伴随状态变化，说明该信号确实与状态相关。</a:t>
            </a:r>
            <a:endParaRPr lang="en-US"/>
          </a:p>
          <a:p>
            <a:pPr marL="304800" indent="-127000" algn="l" defTabSz="914400">
              <a:lnSpc>
                <a:spcPct val="1500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让 BCI 从被动测量变成 assessment + intervention system。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04800" indent="-127000" algn="l" defTabSz="914400">
              <a:lnSpc>
                <a:spcPct val="1500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把「读完就结束」的评估，变成可以反复修正的过程。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242152" y="3273552"/>
            <a:ext cx="5382616" cy="2048256"/>
          </a:xfrm>
          <a:prstGeom prst="roundRect">
            <a:avLst>
              <a:gd name="adj" fmla="val 5803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6534760" y="3401568"/>
            <a:ext cx="4797400" cy="3289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闭环同时制造了什么（本汇报推论）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534760" y="3749040"/>
            <a:ext cx="4797400" cy="187909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>
            <a:lvl1pPr marL="330200" indent="-152400"/>
            <a:lvl2pPr marL="787400" indent="-152400"/>
            <a:lvl3pPr marL="1244600" indent="-152400"/>
            <a:lvl4pPr marL="1701800" indent="-152400"/>
            <a:lvl5pPr marL="2159000" indent="-152400"/>
            <a:lvl6pPr marL="2616200" indent="-152400"/>
            <a:lvl7pPr marL="3073400" indent="-152400"/>
            <a:lvl8pPr marL="3530600" indent="-152400"/>
            <a:lvl9pPr marL="3987800" indent="-152400"/>
          </a:lstStyle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  <a:defRPr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ground truth 不再独立：调控本身改变了状态，「再检测」读到的可能不是自然状态。</a:t>
            </a:r>
            <a:endParaRPr lang="en-US" sz="1100"/>
          </a:p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因此闭环研究必须预设「自然状态基线 + 调控后对照」，否则因果解释会绕回自己。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330200" indent="-152400" algn="l" defTabSz="914400">
              <a:lnSpc>
                <a:spcPct val="150000"/>
              </a:lnSpc>
              <a:spcAft>
                <a:spcPts val="600"/>
              </a:spcAft>
              <a:buClr>
                <a:srgbClr val="EAF2F8"/>
              </a:buClr>
              <a:buFont typeface="Arial" panose="020B0704020202020204"/>
              <a:buChar char="•"/>
            </a:pPr>
            <a:r>
              <a:rPr lang="en-US" sz="1200" b="0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伦理问题的性质也变了：从 mental privacy（读不读得到）变成 agency（能不能被调控、谁来授权）。</a:t>
            </a:r>
            <a:endParaRPr lang="en-US" sz="1200" b="0" i="0" u="none" strike="noStrike">
              <a:solidFill>
                <a:srgbClr val="EAF2F8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566928" y="5614416"/>
            <a:ext cx="11057839" cy="822960"/>
          </a:xfrm>
          <a:prstGeom prst="roundRect">
            <a:avLst>
              <a:gd name="adj" fmla="val 14443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859536" y="5614416"/>
            <a:ext cx="1298448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00" b="1" i="0" u="none" strike="noStrike" spc="12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汇报结论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2231136" y="5614416"/>
            <a:ext cx="9101023" cy="457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ts val="1800"/>
              </a:lnSpc>
              <a:defRPr/>
            </a:pPr>
            <a:r>
              <a:rPr lang="en-US" sz="13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未来意识 BCI 不太可能依赖单一脑信号或单一分类器，而更可能是多模态神经信号 + AI + 个体化模型 + 交互式 BCI 的组合。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66928" y="6121400"/>
            <a:ext cx="11057839" cy="27051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这也是目前文献里最薄的一环：08 把闭环作为展望提出，尚无临床证据支持，伦理授权问题更是基本空白。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OPEN PROBLEMS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29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五个真正的研究空白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4672" y="2212848"/>
            <a:ext cx="1560515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Gap 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4672" y="2542032"/>
            <a:ext cx="1760220" cy="7132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状态与内容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没有打通</a:t>
            </a:r>
            <a:endParaRPr lang="en-US" sz="1550" b="1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4672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04672" y="3639312"/>
            <a:ext cx="1560515" cy="17373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state decoding 与 content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decoding 目前仍是两条相对独立的路线。</a:t>
            </a:r>
            <a:endParaRPr lang="en-US" sz="12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822387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2959547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060131" y="2212848"/>
            <a:ext cx="1560515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Gap 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060131" y="2542032"/>
            <a:ext cx="1560515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跨人群迁移困难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060131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060131" y="3639312"/>
            <a:ext cx="1560515" cy="17373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健康人的稳定神经表征，难以直接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迁移到受损、重组的患者脑网络。</a:t>
            </a:r>
            <a:endParaRPr lang="en-US" sz="12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77846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215006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315590" y="2212848"/>
            <a:ext cx="1560515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Gap 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315590" y="2542032"/>
            <a:ext cx="1760220" cy="7132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ground truth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缺失</a:t>
            </a:r>
            <a:endParaRPr lang="en-US" sz="1550" b="1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315590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315590" y="3639312"/>
            <a:ext cx="1560515" cy="17373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意识本身没有可直接观测的金标准，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只能间接验证。</a:t>
            </a:r>
            <a:endParaRPr lang="en-US" sz="12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333305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7470465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0F3A57">
              <a:alpha val="100000"/>
            </a:srgbClr>
          </a:solidFill>
          <a:ln w="12700">
            <a:solidFill>
              <a:srgbClr val="0F3A5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571049" y="2212848"/>
            <a:ext cx="1560515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Gap 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571049" y="2542032"/>
            <a:ext cx="1560515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实时性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571049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7571049" y="3639312"/>
            <a:ext cx="1560515" cy="17373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fMRI 语义解码能力最强，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却无法支撑真正的实时 BCI。</a:t>
            </a:r>
            <a:endParaRPr lang="en-US" sz="12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588764" y="1975104"/>
            <a:ext cx="2036003" cy="3566160"/>
          </a:xfrm>
          <a:prstGeom prst="roundRect">
            <a:avLst>
              <a:gd name="adj" fmla="val 583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9725924" y="2066544"/>
            <a:ext cx="1761683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9826508" y="2212848"/>
            <a:ext cx="1560515" cy="27432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Gap 5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826508" y="2542032"/>
            <a:ext cx="1560515" cy="85953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隐私边界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9826508" y="3493008"/>
            <a:ext cx="1560515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826508" y="3639312"/>
            <a:ext cx="1560515" cy="173736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decoder 越强，越逼近 me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ntal privacy 的边界。</a:t>
            </a:r>
            <a:endParaRPr lang="en-US" sz="12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566928" y="5779008"/>
            <a:ext cx="1105783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五个空白里，前三个是科学问题，后两个是工程与治理问题。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OUR STANCE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9FB4C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30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三条不能混用的层级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938528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76656" y="2066544"/>
            <a:ext cx="68580" cy="640080"/>
          </a:xfrm>
          <a:prstGeom prst="roundRect">
            <a:avLst>
              <a:gd name="adj" fmla="val 50000"/>
            </a:avLst>
          </a:prstGeom>
          <a:solidFill>
            <a:srgbClr val="2FB8C6">
              <a:alpha val="100000"/>
            </a:srgbClr>
          </a:solidFill>
          <a:ln w="12700">
            <a:solidFill>
              <a:srgbClr val="2FB8C6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41248" y="1938528"/>
            <a:ext cx="4572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0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①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353312" y="1938528"/>
            <a:ext cx="32004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神经信息可解码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81728" y="1938528"/>
            <a:ext cx="484632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有信息，而且能被模型稳定读出。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704527" y="1938528"/>
            <a:ext cx="173736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工程事实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66928" y="2999232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76656" y="3127248"/>
            <a:ext cx="68580" cy="640080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41248" y="2999232"/>
            <a:ext cx="4572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0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353312" y="2999232"/>
            <a:ext cx="32004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covert cognition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81728" y="2999232"/>
            <a:ext cx="484632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患者确实在做与任务一致的认知加工。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704527" y="2999232"/>
            <a:ext cx="173736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临床推断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66928" y="4059936"/>
            <a:ext cx="11057839" cy="896112"/>
          </a:xfrm>
          <a:prstGeom prst="roundRect">
            <a:avLst>
              <a:gd name="adj" fmla="val 13265"/>
            </a:avLst>
          </a:prstGeom>
          <a:solidFill>
            <a:srgbClr val="13293F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76656" y="4187952"/>
            <a:ext cx="68580" cy="640080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41248" y="4059936"/>
            <a:ext cx="4572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0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③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353312" y="4059936"/>
            <a:ext cx="320040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21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主观意识本身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81728" y="4059936"/>
            <a:ext cx="484632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9FB4C7"/>
                </a:solidFill>
                <a:latin typeface="黑体"/>
                <a:ea typeface="黑体"/>
                <a:cs typeface="黑体"/>
                <a:sym typeface="黑体"/>
              </a:rPr>
              <a:t>患者正在体验什么——无法被外部直接观测。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704527" y="4059936"/>
            <a:ext cx="1737360" cy="8961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无法直接验证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566928" y="5193792"/>
            <a:ext cx="11057839" cy="32918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650" b="1" i="0" u="none" strike="noStrike">
                <a:solidFill>
                  <a:srgbClr val="EAF2F8"/>
                </a:solidFill>
                <a:latin typeface="黑体"/>
                <a:ea typeface="黑体"/>
                <a:cs typeface="黑体"/>
                <a:sym typeface="黑体"/>
              </a:rPr>
              <a:t>证据强度自上而下递减：上一层不能自动推出下一层。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66928" y="5632704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24405C">
              <a:alpha val="100000"/>
            </a:srgbClr>
          </a:solidFill>
          <a:ln w="12700">
            <a:solidFill>
              <a:srgbClr val="24405C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66928" y="5797296"/>
            <a:ext cx="11057839" cy="40233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2FB8C6"/>
                </a:solidFill>
                <a:latin typeface="黑体"/>
                <a:ea typeface="黑体"/>
                <a:cs typeface="黑体"/>
                <a:sym typeface="黑体"/>
              </a:rPr>
              <a:t>双向边界：单次阳性 ≠ 完整意识；单次阴性 ≠ 无意识。可解码 ≠ 可证明为意识。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讨论 · 本汇报推论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这条线上真正的瓶颈在哪里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28800"/>
            <a:ext cx="2586152" cy="32004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04088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D98A21">
              <a:alpha val="100000"/>
            </a:srgbClr>
          </a:solidFill>
          <a:ln w="12700">
            <a:solidFill>
              <a:srgbClr val="D98A21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804672" y="2011680"/>
            <a:ext cx="1097280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4672" y="2395728"/>
            <a:ext cx="2310130" cy="7132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瓶颈不是精度，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1550" b="1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是对照条件</a:t>
            </a:r>
            <a:endParaRPr lang="en-US" sz="1550" b="1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04672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04672" y="3566160"/>
            <a:ext cx="2348230" cy="141274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Level 1–2 靠任务对照就够；Level 3</a:t>
            </a:r>
            <a:endParaRPr lang="en-US" sz="1100"/>
          </a:p>
          <a:p>
            <a:pPr marL="0" indent="0" algn="l">
              <a:lnSpc>
                <a:spcPct val="11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–4 必须靠 no-report 与意识／无意识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1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对照。验证问题不解决时，精度越高，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1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错误越有说服力。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390824" y="1828800"/>
            <a:ext cx="2586152" cy="32004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527984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7527A">
              <a:alpha val="100000"/>
            </a:srgbClr>
          </a:solidFill>
          <a:ln w="12700">
            <a:solidFill>
              <a:srgbClr val="17527A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628568" y="2011680"/>
            <a:ext cx="1097280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28568" y="2395728"/>
            <a:ext cx="2110664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从「测试」到「对话」才是可行性的关键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28568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3628568" y="3328416"/>
            <a:ext cx="2348230" cy="165049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一次性检查的失败模式（疲劳、注意波动、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单次阴性）会被误读成「无意识」；持续交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互把单次阴性从「证据」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降级为「一个事件」。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14720" y="1828800"/>
            <a:ext cx="2586152" cy="32004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351880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1B8C99">
              <a:alpha val="100000"/>
            </a:srgbClr>
          </a:solidFill>
          <a:ln w="12700">
            <a:solidFill>
              <a:srgbClr val="1B8C99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52464" y="2011680"/>
            <a:ext cx="1097280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52464" y="2395728"/>
            <a:ext cx="2110664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闭环同时解决了旧问题、制造了新问题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52464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52464" y="3328416"/>
            <a:ext cx="2348230" cy="165049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它能验证因果，代价是 ground truth 不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再独立——所以闭环研究必须自带「自然状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态基线 + 调控后对照」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。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038615" y="1828800"/>
            <a:ext cx="2586152" cy="3225800"/>
          </a:xfrm>
          <a:prstGeom prst="roundRect">
            <a:avLst>
              <a:gd name="adj" fmla="val 459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175775" y="1920240"/>
            <a:ext cx="2311832" cy="73152"/>
          </a:xfrm>
          <a:prstGeom prst="roundRect">
            <a:avLst>
              <a:gd name="adj" fmla="val 50000"/>
            </a:avLst>
          </a:prstGeom>
          <a:solidFill>
            <a:srgbClr val="E07A5F">
              <a:alpha val="100000"/>
            </a:srgbClr>
          </a:solidFill>
          <a:ln w="12700">
            <a:solidFill>
              <a:srgbClr val="E07A5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276359" y="2011680"/>
            <a:ext cx="1097280" cy="36703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276359" y="2395728"/>
            <a:ext cx="2110664" cy="1005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 defTabSz="914400">
              <a:lnSpc>
                <a:spcPts val="2050"/>
              </a:lnSpc>
              <a:defRPr/>
            </a:pPr>
            <a:r>
              <a:rPr lang="en-US" sz="1550" b="1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伦理问题的性质会变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76359" y="3438144"/>
            <a:ext cx="2110664" cy="12802"/>
          </a:xfrm>
          <a:prstGeom prst="roundRect">
            <a:avLst>
              <a:gd name="adj" fmla="val 49998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276359" y="2805176"/>
            <a:ext cx="2348230" cy="21991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前期讨论的是 mental privacy（读不读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得到）；到了闭环阶段，问题变成 agency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（能不能被调控、谁来授权）。03 停在隐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私，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08 没有展开授权。</a:t>
            </a:r>
            <a:endParaRPr lang="en-US" sz="95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566928" y="5212080"/>
            <a:ext cx="11057839" cy="47244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以上四条由本次汇报引用的证据推出，不是任何一篇作者的结论；其中第 1 条与第 3 条是我认为最值得立项的两个方向。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讨论 · 汇总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八篇文献的汇报结论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682496"/>
            <a:ext cx="64008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编号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98448" y="1682496"/>
            <a:ext cx="192024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文献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310128" y="1682496"/>
            <a:ext cx="626364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一句话汇报结论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795967" y="1682496"/>
            <a:ext cx="1828800" cy="25603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在主线上的位置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66928" y="1975104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57200" y="2007108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66928" y="2048256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98448" y="2048256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Bodien 2024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310128" y="2012950"/>
            <a:ext cx="6263640" cy="5532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行为无反应 ≠ 认知不存在；把临床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诊断问题转化成一个 BCI 问题。</a:t>
            </a:r>
            <a:endParaRPr lang="en-US" sz="9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795967" y="2048256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起点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66928" y="2560320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298448" y="2560320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Fischer 2025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310128" y="2560320"/>
            <a:ext cx="62636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从「检测」到「解码」；但可解码 ≠ 可证明为意识。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795967" y="2560320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范式转换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200" y="3031236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566928" y="3072384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298448" y="3072384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Kronemer 2025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3310128" y="3072384"/>
            <a:ext cx="62636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普通 BCI 有行为 ground truth，意识 BCI 没有。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795967" y="3072384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方法学约束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66928" y="3584448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F3A57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06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298448" y="3584448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Tang 2023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310128" y="3460877"/>
            <a:ext cx="6263640" cy="5532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语义解码仍是 proof of principle；下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一步是在 EEG/ECoG/iEEG 上做实时语义解码。</a:t>
            </a:r>
            <a:endParaRPr lang="en-US" sz="9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9795967" y="3584448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技术地基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57200" y="4055364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566928" y="4096512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B8C99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298448" y="4096512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Littlejohn 2025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3310128" y="4057650"/>
            <a:ext cx="6263640" cy="55321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从 assessment 到 communication：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问题变成「能不能持续表达」。</a:t>
            </a:r>
            <a:endParaRPr lang="en-US" sz="900" b="0" i="0" u="none" strike="noStrike">
              <a:solidFill>
                <a:srgbClr val="16222E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9795967" y="4096512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通道连续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566928" y="4608576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E07A5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1298448" y="4608576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Wairagkar 2025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3310128" y="4608576"/>
            <a:ext cx="62636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从「想移动什么」到「想说什么、以及声音该怎么表达」。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9795967" y="4608576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E07A5F"/>
                </a:solidFill>
                <a:latin typeface="黑体"/>
                <a:ea typeface="黑体"/>
                <a:cs typeface="黑体"/>
                <a:sym typeface="黑体"/>
              </a:rPr>
              <a:t>输出丰富度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457200" y="5079492"/>
            <a:ext cx="11277295" cy="990600"/>
          </a:xfrm>
          <a:prstGeom prst="roundRect">
            <a:avLst>
              <a:gd name="adj" fmla="val 1199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566928" y="5120640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8A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07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1298448" y="5120640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du Bois 2026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3310128" y="5120640"/>
            <a:ext cx="6263640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250" b="0" i="0" u="none" strike="noStrike">
                <a:solidFill>
                  <a:srgbClr val="16222E"/>
                </a:solidFill>
                <a:latin typeface="Heiti SC" charset="-122"/>
                <a:ea typeface="Heiti SC" charset="-122"/>
                <a:cs typeface="Heiti SC" charset="-122"/>
                <a:sym typeface="Heiti SC" charset="-122"/>
              </a:rPr>
              <a:t>意识 BCI 正从实验室范式走向 wearable、interactive、bedside。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9795967" y="5120640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D98A21"/>
                </a:solidFill>
                <a:latin typeface="黑体"/>
                <a:ea typeface="黑体"/>
                <a:cs typeface="黑体"/>
                <a:sym typeface="黑体"/>
              </a:rPr>
              <a:t>临床落地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566928" y="5632704"/>
            <a:ext cx="64008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17527A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08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1298448" y="5632704"/>
            <a:ext cx="19202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Kordas 2026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3310128" y="5632704"/>
            <a:ext cx="626364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450" b="0" i="0" u="none" strike="noStrike">
                <a:solidFill>
                  <a:srgbClr val="16222E"/>
                </a:solidFill>
                <a:latin typeface="黑体"/>
                <a:ea typeface="黑体"/>
                <a:cs typeface="黑体"/>
                <a:sym typeface="黑体"/>
              </a:rPr>
              <a:t>未来是多模态 + AI + 个体化 + 交互式的组合，并指向闭环。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9795967" y="5632704"/>
            <a:ext cx="1828800" cy="420624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7527A"/>
                </a:solidFill>
                <a:latin typeface="黑体"/>
                <a:ea typeface="黑体"/>
                <a:cs typeface="黑体"/>
                <a:sym typeface="黑体"/>
              </a:rPr>
              <a:t>方向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566928" y="6062472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6928" y="420624"/>
            <a:ext cx="1371600" cy="384048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139696" y="384048"/>
            <a:ext cx="8131759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1350" b="1" i="0" u="none" strike="noStrike" spc="140">
                <a:solidFill>
                  <a:srgbClr val="1B8C99"/>
                </a:solidFill>
                <a:latin typeface="黑体"/>
                <a:ea typeface="黑体"/>
                <a:cs typeface="黑体"/>
                <a:sym typeface="黑体"/>
              </a:rPr>
              <a:t>REFERENCES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527487" y="384048"/>
            <a:ext cx="1097280" cy="310896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 defTabSz="914400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5A6B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66928" y="786384"/>
            <a:ext cx="11057839" cy="658368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 defTabSz="914400">
              <a:lnSpc>
                <a:spcPct val="100000"/>
              </a:lnSpc>
              <a:defRPr/>
            </a:pPr>
            <a:r>
              <a:rPr lang="en-US" sz="3300" b="1" i="0" u="none" strike="noStrike">
                <a:solidFill>
                  <a:srgbClr val="0F3A57"/>
                </a:solidFill>
                <a:latin typeface="黑体"/>
                <a:ea typeface="黑体"/>
                <a:cs typeface="黑体"/>
                <a:sym typeface="黑体"/>
              </a:rPr>
              <a:t>参考文献与数据来源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66928" y="1517904"/>
            <a:ext cx="11057839" cy="25603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>
            <a:solidFill>
              <a:srgbClr val="DCE5EE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566928" y="1816100"/>
            <a:ext cx="5300320" cy="9207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01 Bodien YG, Allanson J, Cardone P, et al. Cognitive Motor Dissociation in Disor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ders of Consciousness. N Engl J Med. 2024;391(7):598–608. doi:10.1056/NEJMoa2400645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66928" y="2870200"/>
            <a:ext cx="5300320" cy="110185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02 Fischer D, Edlow BL, Freeman HJ, et al. Reconstructing Covert Consciousness: Neural Decoding as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 Novel Consciousness Assessment. Neurology. 2025;104(4):e210208. doi:10.1212/WNL.0000000000210208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66928" y="3924300"/>
            <a:ext cx="5300320" cy="110185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03 Kronemer SI, Bandettini PA, Gonzalez-Castillo J. Sleuthing subjectivity: a review of covert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measures of consciousness. Nat Rev Neurosci. 2025;26(8):476–496. doi:10.1038/s41583-025-00934-1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66928" y="4978400"/>
            <a:ext cx="5300320" cy="110185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04 Littlejohn KT, Cho CJ, Liu JR, et al. A streaming brain-to-voice neuroprosthesis to rest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ore naturalistic communication. Nat Neurosci. 2025;28:902–912. doi:10.1038/s41593-025-01905-6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24448" y="1816100"/>
            <a:ext cx="5300320" cy="9207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05 Wairagkar M, Card NS, Singer-Clark T, et al. An instantaneous voice-synth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esis neuroprosthesis. Nature. 2025;644:145–152. doi:10.1038/s41586-025-09127-3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24448" y="2870200"/>
            <a:ext cx="5300320" cy="110185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06 Tang J, LeBel A, Jain S, Huth AG. Semantic reconstruction of continuous language from no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n-invasive brain recordings. Nat Neurosci. 2023;26(5):858–866. doi:10.1038/s41593-023-01304-9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324448" y="3924300"/>
            <a:ext cx="5300320" cy="110185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07 du Bois N, Korik A, Hodge S, et al. Advancing EEG-based assessment of consciousness and cognit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ion in prolonged disorders of consciousness. Commun Med. 2026;6:344. doi:10.1038/s43856-026-01574-x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24448" y="4978400"/>
            <a:ext cx="5300320" cy="1101852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08 Kordas B. Multimodal Assessment of Consciousness with Brain-Computer Interfaces and Artificial Intelligence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200" b="0" i="0" u="none" strike="noStrike">
                <a:solidFill>
                  <a:srgbClr val="16222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From Acquired Brain Injury to Neurodegenerative Disease. J Clin Med. 2026;15(14):5398. doi:10.3390/jcm15145398</a:t>
            </a:r>
            <a:endParaRPr lang="en-US" sz="900" b="0" i="0" u="none" strike="noStrike">
              <a:solidFill>
                <a:srgbClr val="16222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66928" y="6324600"/>
            <a:ext cx="11057839" cy="18288"/>
          </a:xfrm>
          <a:prstGeom prst="roundRect">
            <a:avLst>
              <a:gd name="adj" fmla="val 50000"/>
            </a:avLst>
          </a:prstGeom>
          <a:solidFill>
            <a:srgbClr val="DCE5EE">
              <a:alpha val="100000"/>
            </a:srgbClr>
          </a:solidFill>
          <a:ln w="12700" cap="flat" cmpd="sng">
            <a:solidFill>
              <a:srgbClr val="DCE5E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66928" y="6413500"/>
            <a:ext cx="11057839" cy="42545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原文状态：01 / 02 / 05 / 06 / 07 / 08 已在本合集 PDFs/ 目录本地存档（含 SHA-256 校验）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A6B7D"/>
                </a:solidFill>
                <a:latin typeface="黑体"/>
                <a:ea typeface="黑体"/>
                <a:cs typeface="黑体"/>
                <a:sym typeface="黑体"/>
              </a:rPr>
              <a:t>；03 与 04 经验证不存在合法开放获取版本，需机构订阅，对应笔记为摘要级提取。</a:t>
            </a:r>
            <a:endParaRPr lang="en-US" sz="900" b="0" i="0" u="none" strike="noStrike">
              <a:solidFill>
                <a:srgbClr val="5A6B7D"/>
              </a:solidFill>
              <a:latin typeface="黑体"/>
              <a:ea typeface="黑体"/>
              <a:cs typeface="黑体"/>
              <a:sym typeface="黑体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888" y="6190807"/>
            <a:ext cx="1522412" cy="6671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14196</Words>
  <Application>WPS 表格</Application>
  <PresentationFormat/>
  <Paragraphs>1466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Arial</vt:lpstr>
      <vt:lpstr>宋体</vt:lpstr>
      <vt:lpstr>Wingdings</vt:lpstr>
      <vt:lpstr>Arial</vt:lpstr>
      <vt:lpstr>黑体</vt:lpstr>
      <vt:lpstr>汉仪中黑KW</vt:lpstr>
      <vt:lpstr>等线</vt:lpstr>
      <vt:lpstr>汉仪中等线KW</vt:lpstr>
      <vt:lpstr>Times New Roman</vt:lpstr>
      <vt:lpstr>Heiti SC</vt:lpstr>
      <vt:lpstr>微软雅黑</vt:lpstr>
      <vt:lpstr>方正雅意黑 GB18030L2</vt:lpstr>
      <vt:lpstr>宋体</vt:lpstr>
      <vt:lpstr>Arial Unicode MS</vt:lpstr>
      <vt:lpstr>汉仪书宋二KW</vt:lpstr>
      <vt:lpstr>Times New Roman</vt:lpstr>
      <vt:lpstr>等线</vt:lpstr>
      <vt:lpstr>黑体</vt:lpstr>
      <vt:lpstr>Office 主题​​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lky</cp:lastModifiedBy>
  <cp:revision>2</cp:revision>
  <dcterms:created xsi:type="dcterms:W3CDTF">2026-09-27T16:00:18Z</dcterms:created>
  <dcterms:modified xsi:type="dcterms:W3CDTF">2026-09-27T16:00:18Z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4C44452B5AF033C85535B96A425D8278_42</vt:lpwstr>
  </property>
  <property fmtid="{D5CDD505-2E9C-101B-9397-08002B2CF9AE}" pid="3" name="KSOProductBuildVer">
    <vt:lpwstr>2052-12.1.28496.28496</vt:lpwstr>
  </property>
</Properties>
</file>