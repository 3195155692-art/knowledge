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22E"/>
                </a:solidFill>
                <a:latin typeface="Heiti SC"/>
              </a:defRPr>
            </a:pPr>
            <a:r>
              <a:rPr sz="1050" b="0" i="0" u="none" strike="noStrike">
                <a:solidFill>
                  <a:srgbClr val="16222E"/>
                </a:solidFill>
                <a:latin typeface="Heiti SC"/>
              </a:rPr>
              <a:t>留一被试交叉验证：整合 DA 前后的诊断性能（%）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整合前</c:v>
                </c:pt>
              </c:strCache>
            </c:strRef>
          </c:tx>
          <c:spPr>
            <a:solidFill>
              <a:srgbClr val="B9CB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22E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平衡诊断准确率</c:v>
                  </c:pt>
                  <c:pt idx="1">
                    <c:v>MCS 灵敏度</c:v>
                  </c:pt>
                  <c:pt idx="2">
                    <c:v>LIS 灵敏度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39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整合 MI-BCI DA 后</c:v>
                </c:pt>
              </c:strCache>
            </c:strRef>
          </c:tx>
          <c:spPr>
            <a:solidFill>
              <a:srgbClr val="175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22E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平衡诊断准确率</c:v>
                  </c:pt>
                  <c:pt idx="1">
                    <c:v>MCS 灵敏度</c:v>
                  </c:pt>
                  <c:pt idx="2">
                    <c:v>LIS 灵敏度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</c:v>
                </c:pt>
                <c:pt idx="1">
                  <c:v>69</c:v>
                </c:pt>
                <c:pt idx="2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22E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22E"/>
                </a:solidFill>
                <a:latin typeface="Heiti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D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7D"/>
              </a:solidFill>
              <a:latin typeface="Heiti SC"/>
              <a:cs typeface="Heiti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开场：这次汇报把 8 篇精读笔记串成一条递进的线索——从「能不能检测到意识」，走到「能不能读取意识内容」，
最后走到「能不能反过来调控」。全场的中心句是：每前进一步，不是因为解码更准了，而是因为对照条件更严了。
提醒听众：本汇报基于本地精读笔记，03/04 两篇原文需机构订阅、笔记为摘要级提取，涉及它们的结论会单独标注。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用三张卡片交代全场结构：行为失效 → 从检测到解读 → 内容重建与闭环。
每一幕换的东西不同：第一幕换的是问题的提法，第二幕换的是对照条件，第三幕换的是系统与患者的关系。
最后那句「对照条件更严了」是全场中心句，后面每一幕都会回到它。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先讲清楚困境：行为学量表是临床金标准，但它把「认知」和「运动输出」绑在一起。
右边强调神经信号路线的价值与代价——代价就是整个汇报反复出现的 ground truth 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这一页是索引，不用逐行念。指出两点：一是编号与本地笔记文件名一致，方便回查；二是 03 与 04 是摘要级笔记，后面讲到时会标出来。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这一页是全场的骨架，请慢慢讲。三幕各自换的东西不同：第一幕换的是问题的提法——不再问「有没有反应」，而问「能不能绕过坏掉的输出通道」；
第二幕换的是对照条件——要证明一个解码结果真的是意识，必须加入 no-report、意识/无意识对照；
第三幕换的是系统与患者的关系——从一次性检查变成持续交互，最后变成检测与干预的闭环。
底部那句话是全场中心句，后面每一幕都会回到它。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第一幕开场。三句话交代这一幕：先把临床困境说清楚，再用数据说明它并不罕见，最后给出一张贯穿全场的地图。
提醒听众：这一幕里 BCI 还不是通信工具，而是替代行为学的一把新尺子。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这是全场第一个硬数字：241 名无可观察指令反应的患者里，60 人（25%）检出 CMD。
同时给出操作性定义，避免大家把 CMD 当成「有意识」的同义词。
设计细节（CRS-R 盲评、第一天最佳表现）是这篇可信度的来源。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这一页是这篇文献的诚实边界，也是后面所有讨论的前提。
重点：对照组 38% 的检出率，说明范式灵敏度有限，所以 25% 是下限。
收尾一定要读那句双向边界。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这是全场的路线图，后面每一幕都会回到这四个层级。
重点不是「一级比一级难」，而是「一级比一级对证据的要求更严」：前两级可以靠任务和行为的对照，后两级必须用无报告范式和意识/无意识对照。
最后读一遍汇报结论——整场报告的起点就落在这一句上。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第二幕开场。这一幕是全场的理论重心，也是最容易讲快的一幕，请留足时间。
提示听众：接下来会连续出现四个必须分清的概念——解码、意识层次、报告、ground truth。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这篇的核心贡献不是新算法，而是重新定义问题：从 consciousness detection 到 consciousness reconstruction。
四个局限里，最值得注意的是「依赖先验神经解剖假设」——它和 07 的脑地形结果以及 06 的跨被试失败互相印证。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这一页把两种范式的差别讲成一句话：传统范式测的是「能不能做到」，解码范式测的是「正在加工什么」。
强调最后一行——内容层面的证据，才是它被认为更接近主观体验的理由。
同时埋下伏笔：能重建内容，并不自动等于重建了「体验」，下一页专门讲这个坑。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这张表是全文最实用的部分。逐条读会太慢，挑三条讲：不依赖任意阈值、分别评估感觉与语义、沿连续谱评估。
最后提醒：这张表承诺的是「潜在解法」，不是已验证的结果。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这是全场最重要的一页，请放慢。左边这条链说明：刺激进入大脑之后要经过好几步才可能变成体验，
而解码器能看到的只是其中某一步的痕迹。右边列出三种同样能产生这个预测的解释——
注意第②③两种解释都不需要意识存在，所以「解码成功」本身不构成意识证据。
最后落在汇报结论上：可解码 ≠ 可证明为意识，这是后面所有实验设计要守住的一条线。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这一页解释为什么意识 BCI 难：不是信号不够好，而是缺 ground truth。
务必念出底部那行——03 是摘要级笔记，正文细节未核实。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这一页的作用是给整场汇报立一套词汇。level 问的是「有多清醒」，state 问的是「此刻整体状态」，content 问的是「体验里是什么」。
强调中间那句话：检测 level 和解码 content 不是同一个问题的难易版本，而是两个不同的问题——这决定了实验设计和证据标准都不一样。
如果时间和听众水平允许，可以举一个反例：脑电 alpha 功率升高不等于「意识增强」，它更可能对应觉醒水平的变化。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这一页回答「为什么要费劲做无报告范式」。核心一句：报告本身是脑活动的一部分，所以让患者报告，等于把测量工具混进了被测对象。
在意识障碍场景这一点更尖锐：能不能报告，本来就是我们要判断的事情，不能同时拿它当尺子。
提醒听众：no-report 的代价是失去行为锚点，所以必须用更严的对照补回来。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四道对照可以理解为「排除法」：每一道都在排除一种「不需要意识也能解释」的可能。
masking 排除感觉阈值；注意力操控排除注意；no-report 排除报告动作；跨模态排除单一模态的偶然。
读完判据后，落到汇报结论：普通 BCI 有行为结果当金标准，意识 BCI 没有，这才是它根本性的难点。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第三幕开场。这一幕从技术基础走到临床，最后收在闭环调控上。
提示听众：接下来的每一篇都在解决上一幕留下的一个问题——语义重建解决「内容」的问题，流式与交互解决「时间」的问题，多模态与闭环解决「证据」的问题。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这是整条技术链的 proof of principle：非侵入、语义层面、跨模态。
两个必须念的数字：72–82% 的时间点语义相似度显著高于随机；只读解码文本也能答对 9/16 道阅读理解题。
右边的「不能就此说读心」同样重要——尤其是跨被试训练几乎失败，以及解码可以被主动抵抗。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这一页回答「为什么是语义，而不是词」。左边是刺激识别，右边是意义重建——后者才对应意识研究关心的层级。
第二点很实用：用词错率评价这类系统会冤枉它，因为同义表达本来就允许不同词；要用意义相似度和下游任务可用性来评价。
第三点给后面做铺垫：意义是跨模态共享的，这正是把语义解码迁移到听觉语言、想象语言的依据。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四个代价里，前两个是设备与训练成本，后两个更值得讨论。
「抵抗」这一条请重点讲：它看起来是限制，其实是质量证明——说明解码依赖被试的认知状态。
底部那条推论是把 06 和后面的临床场景连起来：跨被试失败不等于患者不可解码，因为患者未必能表达「不合作」。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这一页把「延迟」从工程细节提升为范式问题：等待式系统必须切分句子，流式系统则是连续在场。
关键数字念三个就够：80 ms、约 99.3%、46.5 对 24.8 词/分。注意 04 的笔记是摘要级，引用时说明。
底部推论是全场主线的一部分：流式带来的「持续在场」，是第三幕后半段「持续交互」的技术前提。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把两篇语音 BCI 放在一起对照：一条是「流式语言模型」，一条是「直接声学合成」。
05 最关键的数字是合成语音 WER 43.75% 对患者自身残余语音 96.43%——这是可懂度的实质提升。
同时点出两张牌面下的代价：流式的 WER 仍高；实时的音质仍不如事后合成。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这一页把「表达性」讲成一个独立的价值，而不是语音输出的附加功能。
左边这条语言层级链说明：这项研究抓的是发音到声学这一段，是最靠近输出的那一层——这也是它的边界所在，它读到的还不是抽象思维。
右边四条里，最容易被忽略也最动人的是第四条：患者听到自己原本的声音。请把原话念出来。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这一页单独拎出来，因为它对组里做解码的人最有用：真正携带语音信息的不一定是「驱动发声」的那部分活动。
2.5% 对 97.5% 的对比，说明大部分方差是任务相关的准备/缓冲活动，而不是输出本身。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这一页从「方法」转到「临床价值」。核心论证是：BCI 指标之所以有用，是因为它与行为学不共线。
注意作者自己也承认，诊断本来就是用有缺陷的尺子做出来的，所以「DA 与 CRS-R 无关」并不令人意外——真正的问题在尺子。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 07 的「结构化多阶段协议」讲成一个范式变化，而不是流程细节。
左边三种失败模式是每个做临床测量的人都会遇到的，请具体讲：疲劳和注意波动会造成假阴性，而假阴性会被当作「无意识」的证据。
右边给出答案：把一次性检查换成持续交互，让「一次没做到」不再等于「做不到」。
底部推论是全场的第二句主线：通道的连续性与关系的连续性，其实是同一个方向的两次推进。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这一页体现读书笔记的纪律：把增强结论的数字和削弱结论的数字一起留下。
UWS 反超 MCS 这个结果，作者自己也没有定论，我们如实呈现两种解释。
数字不一致的三个数值并列保留，引用时给区间。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这一页回答「为什么要折腾多模态」。依次说清三种模态各自的边界，再指出融合的意义是互补盲区，不是简单叠加准确率。
第一条要注意：作者本人明确把自主神经指标限定为背景信息，不是意识标志物——这个限定要保留。
底部推论请重点讲：单一模态的阴性，本身不携带「没有意识」这个信息。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收尾的展望页：五个阶段 + 闭环 + AI 的四个角色。
提醒听众，闭环部分目前仍是概念性的，08 是综述，不是实验结果。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这一幕的收束，也是全场的落点。回路本身是 08 提出的：脑信号 → AI 解码 → 意识状态 → 神经调控 → 新的大脑状态 → 再评估。
左边讲闭环的价值：它能把相关性推进到因果性，这是纯观察研究做不到的。
右边讲它的代价，这部分是我的推论，请明确说是推论：一旦你同时测量和干预，就失去了一个独立的参照点；
所以闭环实验必须自带「自然状态基线 + 调控后对照」的设计，否则因果解释会自我循环。
同时点出伦理性质的变化：从隐私问题变成授权问题——这是我认为最值得做的空白。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从「文献讲了什么」转到「我们还能做什么」。这五个空白是后面讨论的引子。
如果组里要做选题，Gap 3（ground truth）和 Gap 2（迁移）是最容易形成具体实验设计的两个。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这是整个汇报的方法论立场，也是我们读这批文献时最想守住的一条线。
凡是要把结论往外推一步的时候，先回到这一页看看推的是哪一层。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这一页是我自己的判断，请先声明「以下是我的推论，不是文献结论」，再逐条讲。
第 1 条可以这样展开：如果我们只能提高解码精度，却拿不出更严的对照，那么审稿人问的问题仍然是「你怎么知道这不是无意识加工」。
第 3 条展开：闭环是最有想象力的方向，但它要求我们同时设计「怎么干预」和「怎么证明干预有效」，这是当前文献里最薄的地方。
讲完这一页直接进入讨论问题。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这一页是全场的一句话索引，用于收束和答疑定位，不必逐条念。
建议只点三行：02（可解码 ≠ 可证明为意识）、03（没有 ground truth）、08（指向闭环）。
如果要现场定位某篇文献的结论，直接从这一页指过去。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留三个具体、可争论的问题，避免讨论停留在「这个方向很重要」。
每个问题都已经绑定了文献中的具体证据，讨论时可以随时回指。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最后一页供回查。所有数字都来自本合集的精读笔记与其引用的原文；03、04 两篇为摘要级提取。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" y="4160520"/>
            <a:ext cx="1275588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117043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BCI × CONSCIOUSNESS  ·  文献精读合集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627632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脑机接口与意识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61518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从「意识检测」到「意识内容解码」，再到闭环调控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66928" y="3346704"/>
            <a:ext cx="2194560" cy="365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584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 篇文献精读  ·  三幕递进  ·  2023–2026  ·  组会汇报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内容依据本地精读笔记整理；原文获取状态与校验值见合集 README 与 manifest.json。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OUTLINE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三幕递进：一条关于「读数可信度」的线索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第一幕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70048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行为失效</a:t>
            </a:r>
            <a:endParaRPr lang="en-US" sz="17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072384"/>
            <a:ext cx="30519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当患者无法做出反应，BCI 如何成为意识的旁路？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4315968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 Bodien 2024 · NEJM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2122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9282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24730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4569866" y="2670048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从检测到解读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4569866" y="3072384"/>
            <a:ext cx="30519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从「有没有」换成「是什么」——那我们凭什么说它是意识？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69866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69866" y="4315968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 Fischer 2025 · Neurology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 Kronemer 2025 · NRN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97317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34477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89925" y="21214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8335061" y="2670048"/>
            <a:ext cx="30519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内容重建与闭环</a:t>
            </a:r>
            <a:endParaRPr lang="en-US" sz="1750" dirty="0"/>
          </a:p>
        </p:txBody>
      </p:sp>
      <p:sp>
        <p:nvSpPr>
          <p:cNvPr id="25" name="Text 22"/>
          <p:cNvSpPr txBox="1"/>
          <p:nvPr/>
        </p:nvSpPr>
        <p:spPr>
          <a:xfrm>
            <a:off x="8335061" y="3072384"/>
            <a:ext cx="30519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语义与声音能被重建；能否进一步检测、干预、再检测？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335061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35061" y="4315968"/>
            <a:ext cx="30519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 Tang · 04 Littlejohn · 05 Wairagkar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 du Bois · 08 Kordas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" y="5230368"/>
            <a:ext cx="11057839" cy="859536"/>
          </a:xfrm>
          <a:prstGeom prst="roundRect">
            <a:avLst>
              <a:gd name="adj" fmla="val 13830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7824" y="5230368"/>
            <a:ext cx="1043604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一条主线：每前进一步，不是因为解码更准了，而是因为对照条件更严了。</a:t>
            </a:r>
            <a:endParaRPr lang="en-US" sz="16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顺序沿用合集 README 的推荐阅读顺序；编号与笔记文件名一一对应。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问题的起点：评估手段的天花板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2048256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行为学评估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432304"/>
            <a:ext cx="477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GCS、CRS-R 等量表都要求患者把认知转成可观察的动作或言语。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在睡眠、麻醉、瘫痪、闭锁综合征、no-report 范式下失效。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结果可能被系统性低估：认知仍在，输出通道损坏。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0440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53048" y="2048256"/>
            <a:ext cx="4779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神经信号评估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6553048" y="2432304"/>
            <a:ext cx="477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任务态 fMRI / EEG / fNIRS / 自主神经指标，不依赖运动输出。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已有研究能在无反应患者中检出与执行指令一致的脑活动。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代价：意识本身没有可直接观测的金标准，即 ground truth 缺失。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4443984"/>
            <a:ext cx="11057839" cy="1572768"/>
          </a:xfrm>
          <a:prstGeom prst="roundRect">
            <a:avLst>
              <a:gd name="adj" fmla="val 7558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4626864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所以真正的问题不是「他有没有反应」，而是：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4992624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残余的意识与认知，是否仍然可被检测——甚至被读取？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THE 8 PAPERS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文献地图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700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编号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408176" y="1700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文献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87568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类型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700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在本汇报中的角色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53167" y="1700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提取深度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01168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043684"/>
            <a:ext cx="11277295" cy="452628"/>
          </a:xfrm>
          <a:prstGeom prst="roundRect">
            <a:avLst>
              <a:gd name="adj" fmla="val 26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084832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408176" y="2084832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Bodien 2024 · NEJM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687568" y="20848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多中心队列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07808" y="2084832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临床起点：CMD 并不罕见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253167" y="2084832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2583180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408176" y="2583180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Fischer 2025 · Neurology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87568" y="2583180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综述 / 观点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2583180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范式转换：从检测走向解码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0253167" y="2583180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040380"/>
            <a:ext cx="11277295" cy="452628"/>
          </a:xfrm>
          <a:prstGeom prst="roundRect">
            <a:avLst>
              <a:gd name="adj" fmla="val 26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" y="3081528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408176" y="3081528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Kronemer 2025 · NRN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87568" y="3081528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综述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07808" y="3081528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方法学约束：如何证明与意识相关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10253167" y="3081528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摘要级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579876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1408176" y="3579876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Tang 2023 · Nat Neurosci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687568" y="3579876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方法研究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7607808" y="3579876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非侵入语义重建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0253167" y="3579876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4037076"/>
            <a:ext cx="11277295" cy="452628"/>
          </a:xfrm>
          <a:prstGeom prst="roundRect">
            <a:avLst>
              <a:gd name="adj" fmla="val 26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6928" y="4078224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1408176" y="4078224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Littlejohn 2025 · Nat Neurosci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87568" y="4078224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技术报告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607808" y="4078224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流式脑→语音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10253167" y="4078224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摘要级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66928" y="4576572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1408176" y="4576572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Wairagkar 2025 · Nature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87568" y="457657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技术报告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607808" y="4576572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即时声音合成与表达性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10253167" y="4576572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457200" y="5033772"/>
            <a:ext cx="11277295" cy="452628"/>
          </a:xfrm>
          <a:prstGeom prst="roundRect">
            <a:avLst>
              <a:gd name="adj" fmla="val 26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5074920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350" dirty="0"/>
          </a:p>
        </p:txBody>
      </p:sp>
      <p:sp>
        <p:nvSpPr>
          <p:cNvPr id="48" name="Text 45"/>
          <p:cNvSpPr txBox="1"/>
          <p:nvPr/>
        </p:nvSpPr>
        <p:spPr>
          <a:xfrm>
            <a:off x="1408176" y="5074920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du Bois 2026 · Commun Med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5687568" y="5074920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临床研究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607808" y="5074920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可穿戴 EEG + 运动想象 BCI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10253167" y="5074920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573268"/>
            <a:ext cx="73152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350" dirty="0"/>
          </a:p>
        </p:txBody>
      </p:sp>
      <p:sp>
        <p:nvSpPr>
          <p:cNvPr id="53" name="Text 50"/>
          <p:cNvSpPr txBox="1"/>
          <p:nvPr/>
        </p:nvSpPr>
        <p:spPr>
          <a:xfrm>
            <a:off x="1408176" y="5573268"/>
            <a:ext cx="420624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Kordas 2026 · J Clin Med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5687568" y="5573268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综述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7607808" y="5573268"/>
            <a:ext cx="24871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多模态 + AI + 闭环展望</a:t>
            </a:r>
            <a:endParaRPr lang="en-US" sz="1250" dirty="0"/>
          </a:p>
        </p:txBody>
      </p:sp>
      <p:sp>
        <p:nvSpPr>
          <p:cNvPr id="56" name="Text 53"/>
          <p:cNvSpPr txBox="1"/>
          <p:nvPr/>
        </p:nvSpPr>
        <p:spPr>
          <a:xfrm>
            <a:off x="10253167" y="5573268"/>
            <a:ext cx="1371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全文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66928" y="601675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03、04 两篇原文经 Unpaywall / OpenAlex / Europe PMC 核验为闭源，需机构订阅；笔记为摘要级提取，汇报中已单独标注。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THE THREAD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领域主线：三幕递进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37360"/>
            <a:ext cx="3503066" cy="603504"/>
          </a:xfrm>
          <a:prstGeom prst="roundRect">
            <a:avLst>
              <a:gd name="adj" fmla="val 19697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7373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第一幕 · 行为失效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14016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换的是问题的提法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852928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 BCI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1638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运动意图 → 设备控制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69417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语音 BCI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0050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语言意图 → 文字与声音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5354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 BCI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84632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 → 隐蔽认知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44314" y="1737360"/>
            <a:ext cx="3503066" cy="603504"/>
          </a:xfrm>
          <a:prstGeom prst="roundRect">
            <a:avLst>
              <a:gd name="adj" fmla="val 19697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18634" y="17373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从检测到解读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4618634" y="2414016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换的是对照条件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44314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54042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00346" y="2852928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神经解码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4600346" y="31638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 → 语义表征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344314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54042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00346" y="369417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意识内容解码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4600346" y="40050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 → 具体体验内容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344314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54042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00346" y="45354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验证问题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4600346" y="484632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凭什么说这就是意识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121701" y="1737360"/>
            <a:ext cx="3503066" cy="603504"/>
          </a:xfrm>
          <a:prstGeom prst="roundRect">
            <a:avLst>
              <a:gd name="adj" fmla="val 19697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396021" y="17373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内容重建与闭环</a:t>
            </a:r>
            <a:endParaRPr lang="en-US" sz="1550" dirty="0"/>
          </a:p>
        </p:txBody>
      </p:sp>
      <p:sp>
        <p:nvSpPr>
          <p:cNvPr id="39" name="Text 36"/>
          <p:cNvSpPr txBox="1"/>
          <p:nvPr/>
        </p:nvSpPr>
        <p:spPr>
          <a:xfrm>
            <a:off x="8396021" y="2414016"/>
            <a:ext cx="29544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换的是系统与患者的关系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121701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31429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77733" y="2852928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语义与声音重建</a:t>
            </a:r>
            <a:endParaRPr lang="en-US" sz="1350" dirty="0"/>
          </a:p>
        </p:txBody>
      </p:sp>
      <p:sp>
        <p:nvSpPr>
          <p:cNvPr id="43" name="Text 40"/>
          <p:cNvSpPr txBox="1"/>
          <p:nvPr/>
        </p:nvSpPr>
        <p:spPr>
          <a:xfrm>
            <a:off x="8377733" y="31638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意义可读，声音可表达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121701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231429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77733" y="3694176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持续交互</a:t>
            </a:r>
            <a:endParaRPr lang="en-US" sz="1350" dirty="0"/>
          </a:p>
        </p:txBody>
      </p:sp>
      <p:sp>
        <p:nvSpPr>
          <p:cNvPr id="47" name="Text 44"/>
          <p:cNvSpPr txBox="1"/>
          <p:nvPr/>
        </p:nvSpPr>
        <p:spPr>
          <a:xfrm>
            <a:off x="8377733" y="4005072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从一次检查到一段对话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8121701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31429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377733" y="4535424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闭环调控</a:t>
            </a:r>
            <a:endParaRPr lang="en-US" sz="1350" dirty="0"/>
          </a:p>
        </p:txBody>
      </p:sp>
      <p:sp>
        <p:nvSpPr>
          <p:cNvPr id="51" name="Text 48"/>
          <p:cNvSpPr txBox="1"/>
          <p:nvPr/>
        </p:nvSpPr>
        <p:spPr>
          <a:xfrm>
            <a:off x="8377733" y="4846320"/>
            <a:ext cx="2991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检测 → 干预 → 再检测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5961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从「输出通道」到「内容读取」，再到「闭环干预」——越往后走，工程可行性越低，而科学争议越大。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" y="4892040"/>
            <a:ext cx="1275588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 1 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737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行为失效</a:t>
            </a:r>
            <a:endParaRPr lang="en-US" sz="4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behaviour stops being a trustworthy readout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意识评估的传统做法是「让患者做出反应」。当运动输出通路损坏时，这个做法不是变得不准确，而是从根上失效——BCI 的第一重身份，正是绕开这条坏掉的通路。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这一幕要交代的问题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22860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45168" y="2267712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为什么「没有反应」不能等于「没有认知」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87968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345168" y="3145536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CMD 的真实规模，以及检出率的含义与下限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40416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345168" y="4023360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state 到 conscious content：四层问题地图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1 · 01 Bodien 2024 · NEJM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行为无反应 ≠ 认知不存在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4114800" cy="3931920"/>
          </a:xfrm>
          <a:prstGeom prst="roundRect">
            <a:avLst>
              <a:gd name="adj" fmla="val 302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2029968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CMD 检出率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2340864"/>
            <a:ext cx="33467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endParaRPr lang="en-US" sz="765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3602736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/ 241</a:t>
            </a:r>
            <a:endParaRPr lang="en-US" sz="205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402336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名「对指令无可观察反应」的意识障碍患者，在任务态 fMRI 或 EEG 上检出认知-运动分离。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50976" y="5029200"/>
            <a:ext cx="3346704" cy="14630"/>
          </a:xfrm>
          <a:prstGeom prst="roundRect">
            <a:avLst>
              <a:gd name="adj" fmla="val 50001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5120640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阳性来源：仅 fMRI 11 例、仅 EEG 13 例；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两种方法均为阳性 36 例。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956048" y="1828800"/>
            <a:ext cx="6668719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85232" y="1956816"/>
            <a:ext cx="60103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研究设计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85232" y="2286000"/>
            <a:ext cx="601035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353 名意识障碍成人，2006–2023 年、6 个国际中心的前瞻性队列。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行为评估用 CRS-R，评估者盲于 fMRI/EEG 结果；只取第一天最佳表现。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中位年龄 37.9 岁；伤后中位 7.9 个月（26% 在 28 天内）；50% 为创伤性病因。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56048" y="3712464"/>
            <a:ext cx="6668719" cy="2048256"/>
          </a:xfrm>
          <a:prstGeom prst="roundRect">
            <a:avLst>
              <a:gd name="adj" fmla="val 5804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85232" y="3877056"/>
            <a:ext cx="6010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CMD 的操作性定义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4206240"/>
            <a:ext cx="60103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CRS-R 无指令跟随与可理解言语（听觉 &lt;3、视觉 &lt;5、口运动/言语 &lt;3、交流 &lt;1），且至少一项任务态 fMRI 或 EEG 阳性。任务包括运动想象、视听觉辨别，需持续数分钟。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1 · 边界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25% 是下限，而不是上限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2048256"/>
            <a:ext cx="29666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对照也只有 38% 阳性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743200"/>
            <a:ext cx="296661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112 名可观察指令反应者中仅 43 人（38%）在任务态 fMRI/EEG 上出现对应反应。说明任务范式本身假阴性率很高。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821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7537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2538" y="2048256"/>
            <a:ext cx="29666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技术覆盖并不完整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612538" y="2743200"/>
            <a:ext cx="296661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多数患者只做了单模态检查（仅 fMRI 或仅 EEG），而 60 例阳性里有 36 例是双模态共同检出——真实的 CMD 比例只会更高。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09509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46669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3829" y="2048256"/>
            <a:ext cx="29666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关联不等于因果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8383829" y="2743200"/>
            <a:ext cx="296661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CMD 与更年轻、伤后时间更长、创伤性病因相关，但这是观察性结果，不能读成因果解释。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4937760"/>
            <a:ext cx="11057839" cy="1133856"/>
          </a:xfrm>
          <a:prstGeom prst="roundRect">
            <a:avLst>
              <a:gd name="adj" fmla="val 10484"/>
            </a:avLst>
          </a:prstGeom>
          <a:solidFill>
            <a:srgbClr val="0A1A2F"/>
          </a:solidFill>
          <a:ln w="12700">
            <a:solidFill>
              <a:srgbClr val="0A1A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" y="5084064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双向边界（汇报时必须说清）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394960"/>
            <a:ext cx="10326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单次阳性 ≠ 患者具有完整意识或决策能力；单次阴性 ≠ 患者没有意识。25% 描述的是一个检测结果，不是一个意识等级。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第一幕 · 01 Bodien 2024 · 框架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四层问题：从「有没有意识」到「正在意识到什么」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2599868" cy="2615184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06654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627632" y="2066544"/>
            <a:ext cx="1301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临床可用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304288"/>
            <a:ext cx="2124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状态解码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4672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8895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识别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" y="3127248"/>
            <a:ext cx="2124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UWS / MCS / CMD / LIS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38039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证据要求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4041648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临床量表 + 任务态反应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86252" y="1828800"/>
            <a:ext cx="2599868" cy="2615184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3412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23996" y="206654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446956" y="2066544"/>
            <a:ext cx="1301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已验证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23996" y="2304288"/>
            <a:ext cx="2124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指令解码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3623996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23996" y="28895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识别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623996" y="3127248"/>
            <a:ext cx="2124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左 / 右、是 / 否、运动想象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623996" y="38039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证据要求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3623996" y="4041648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任务对照 + 行为锚点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05576" y="1828800"/>
            <a:ext cx="2599868" cy="2615184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42736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3320" y="206654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3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266280" y="2066544"/>
            <a:ext cx="1301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健康人验证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443320" y="2304288"/>
            <a:ext cx="2124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语义解码</a:t>
            </a:r>
            <a:endParaRPr lang="en-US" sz="1750" dirty="0"/>
          </a:p>
        </p:txBody>
      </p:sp>
      <p:sp>
        <p:nvSpPr>
          <p:cNvPr id="32" name="Shape 29"/>
          <p:cNvSpPr/>
          <p:nvPr/>
        </p:nvSpPr>
        <p:spPr>
          <a:xfrm>
            <a:off x="6443320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43320" y="28895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识别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443320" y="3127248"/>
            <a:ext cx="2124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语言、物体、人物、自传体信息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443320" y="38039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证据要求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443320" y="4041648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语义相似度 + 下游任务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9024899" y="1828800"/>
            <a:ext cx="2599868" cy="2615184"/>
          </a:xfrm>
          <a:prstGeom prst="roundRect">
            <a:avLst>
              <a:gd name="adj" fmla="val 457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62059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62643" y="2066544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4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0085603" y="2066544"/>
            <a:ext cx="1301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概念阶段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262643" y="2304288"/>
            <a:ext cx="2124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意识内容解码</a:t>
            </a:r>
            <a:endParaRPr lang="en-US" sz="1750" dirty="0"/>
          </a:p>
        </p:txBody>
      </p:sp>
      <p:sp>
        <p:nvSpPr>
          <p:cNvPr id="42" name="Shape 39"/>
          <p:cNvSpPr/>
          <p:nvPr/>
        </p:nvSpPr>
        <p:spPr>
          <a:xfrm>
            <a:off x="9262643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262643" y="28895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识别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9262643" y="3127248"/>
            <a:ext cx="21243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患者当下正在体验的内容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9262643" y="3803904"/>
            <a:ext cx="212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证据要求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9262643" y="4041648"/>
            <a:ext cx="212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no-report + 意识/无意识对照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66928" y="4626864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难点不是线性增加的：Level 1–2 还能靠任务对照，Level 3–4 必须靠 no-report 与意识／无意识对照——变的是证据标准，不只是模型精度。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把临床诊断问题（他有没有意识）转化为一个 BCI 问题：当运动输出通道失效时，能否绕过它读取认知。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" y="4892040"/>
            <a:ext cx="1275588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 2 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737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从检测到解读</a:t>
            </a:r>
            <a:endParaRPr lang="en-US" sz="4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detection to reconstruction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如果患者确实在认知，下一个问题就不是「有没有」，而是「是什么」。这一步要求换掉整个范式，也第一次把「我们凭什么说这是意识」变成必须正面回答的问题。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这一幕要交代的问题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22860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45168" y="2267712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从「患者有没有意识」到「患者正在意识到什么」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87968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345168" y="3145536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能解码什么，以及解码「不能」证明什么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40416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345168" y="4023360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意识必须拆成三个层次来看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87968" y="491947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345168" y="4901184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为什么「让患者报告」会污染我们要测的东西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2 · 02 Fischer 2025 · Neurology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把问题从「有没有」换成「是什么」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5193792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旧问题 · consciousness detection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2494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the patient have consciousness?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7249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要求患者隐蔽地执行一个指令任务（如想象打网球），再对照预期脑区。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16752" y="1810512"/>
            <a:ext cx="5605272" cy="1481328"/>
          </a:xfrm>
          <a:prstGeom prst="roundRect">
            <a:avLst>
              <a:gd name="adj" fmla="val 8025"/>
            </a:avLst>
          </a:prstGeom>
          <a:solidFill>
            <a:srgbClr val="DCF1F3"/>
          </a:solidFill>
          <a:ln w="15875">
            <a:solidFill>
              <a:srgbClr val="2FB8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7648" y="1956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新问题 · consciousness reconstruction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327648" y="22494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3A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patient consciously experiencing?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6327648" y="27249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从脑活动中重建刺激、概念与语义内容，把意识评估从二分推向连续谱。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352958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现行范式的四个根本局限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566928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4114800"/>
            <a:ext cx="214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" y="4462272"/>
            <a:ext cx="214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灵敏度有限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4901184"/>
            <a:ext cx="214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听懂、注意、形成正确心理表象、持续执行——任一环节失败都会造成假阴性。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390824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10280" y="4114800"/>
            <a:ext cx="214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610280" y="4462272"/>
            <a:ext cx="214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依赖先验神经解剖假设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610280" y="4901184"/>
            <a:ext cx="214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「想象打网球应激活运动区」这类假设，在脑网络已重组的重伤患者身上未必成立。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14720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34176" y="4114800"/>
            <a:ext cx="214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34176" y="4462272"/>
            <a:ext cx="214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测的是任务执行能力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6434176" y="4901184"/>
            <a:ext cx="214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而不是患者正在经历的主观内容。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38615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58071" y="4114800"/>
            <a:ext cx="214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258071" y="4462272"/>
            <a:ext cx="214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把意识建构成二分现象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9258071" y="4901184"/>
            <a:ext cx="214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忽略了意识体验本身的连续谱性质。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文献类型：Review / Perspective。检索范围：PubMed 与 Google Scholar，1990-01 至 2024-09。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02 Fischer 2025 · 概念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neural decoding 在做什么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15116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177393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 task-based 范式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858768" y="1773936"/>
            <a:ext cx="745510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给一个指令 → 看预期脑区是否激活 → 判断「患者能否执行任务」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11057839" cy="786384"/>
          </a:xfrm>
          <a:prstGeom prst="roundRect">
            <a:avLst>
              <a:gd name="adj" fmla="val 15116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" y="267004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解码范式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3858768" y="2670048"/>
            <a:ext cx="745510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记录脑活动 → 用模型反推刺激、概念与语义 → 判断「患者正在加工什么内容」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3675888"/>
            <a:ext cx="2572436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675888"/>
            <a:ext cx="22798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刺激 / 内部状态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102788" y="3675888"/>
            <a:ext cx="256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395396" y="3675888"/>
            <a:ext cx="2572436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41700" y="3675888"/>
            <a:ext cx="22798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脑活动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31256" y="3675888"/>
            <a:ext cx="256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23864" y="3675888"/>
            <a:ext cx="2572436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70168" y="3675888"/>
            <a:ext cx="22798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机器学习模型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759723" y="3675888"/>
            <a:ext cx="256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052331" y="3675888"/>
            <a:ext cx="2572436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98635" y="3675888"/>
            <a:ext cx="22798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重建：刺激、概念、语义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4626864"/>
            <a:ext cx="11057839" cy="786384"/>
          </a:xfrm>
          <a:prstGeom prst="roundRect">
            <a:avLst>
              <a:gd name="adj" fmla="val 15116"/>
            </a:avLst>
          </a:prstGeom>
          <a:solidFill>
            <a:srgbClr val="DCF1F3"/>
          </a:solidFill>
          <a:ln w="15875">
            <a:solidFill>
              <a:srgbClr val="2FB8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7824" y="4626864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例：患者听到「我昨天去公园散步」 → 语义解码器 → 「公园 / 散步 / 昨天」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关键区别：解码给出的是内容层面的证据，而不只是「脑活动增强了」——这是它比传统范式更接近「体验」的原因。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2 · 原文 Table 还原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为什么要换范式：逐条对齐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73936"/>
            <a:ext cx="5760720" cy="420624"/>
          </a:xfrm>
          <a:prstGeom prst="roundRect">
            <a:avLst>
              <a:gd name="adj" fmla="val 28261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773936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现行范式的局限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28816" y="1773936"/>
            <a:ext cx="5095951" cy="420624"/>
          </a:xfrm>
          <a:prstGeom prst="roundRect">
            <a:avLst>
              <a:gd name="adj" fmla="val 28261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39712" y="1773936"/>
            <a:ext cx="46570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解码范式的潜在解法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2286000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fMRI 依赖先验 ROI、预设功能解剖不变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56832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76288" y="2286000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更少依赖预设感兴趣区，可针对个体定制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2802636"/>
            <a:ext cx="11057839" cy="525780"/>
          </a:xfrm>
          <a:prstGeom prst="roundRect">
            <a:avLst>
              <a:gd name="adj" fmla="val 22609"/>
            </a:avLst>
          </a:prstGeom>
          <a:solidFill>
            <a:srgbClr val="ECF2F7"/>
          </a:solidFill>
          <a:ln w="12700">
            <a:solidFill>
              <a:srgbClr val="ECF2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7824" y="2848356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依赖任意的统计阈值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56832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288" y="2848356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不依赖任意统计阈值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3410712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EEG 对刺激的感觉成分与语义成分归属不确定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56832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76288" y="3410712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分别评估感觉内容与语义内容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3927348"/>
            <a:ext cx="11057839" cy="525780"/>
          </a:xfrm>
          <a:prstGeom prst="roundRect">
            <a:avLst>
              <a:gd name="adj" fmla="val 22609"/>
            </a:avLst>
          </a:prstGeom>
          <a:solidFill>
            <a:srgbClr val="ECF2F7"/>
          </a:solidFill>
          <a:ln w="12700">
            <a:solidFill>
              <a:srgbClr val="ECF2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7824" y="3973068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依赖患者配合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56832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76288" y="3973068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更少依赖患者配合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8368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7824" y="4535424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把意识建构成二分现象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56832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76288" y="4535424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沿连续谱评估隐蔽意识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66928" y="5052060"/>
            <a:ext cx="11057839" cy="525780"/>
          </a:xfrm>
          <a:prstGeom prst="roundRect">
            <a:avLst>
              <a:gd name="adj" fmla="val 22609"/>
            </a:avLst>
          </a:prstGeom>
          <a:solidFill>
            <a:srgbClr val="ECF2F7"/>
          </a:solidFill>
          <a:ln w="12700">
            <a:solidFill>
              <a:srgbClr val="ECF2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5097780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难以转化为 BCI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656832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76288" y="5097780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易于转化为脑机接口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77824" y="5660136"/>
            <a:ext cx="53492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间接评估患者体验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656832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76288" y="5660136"/>
            <a:ext cx="46021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更直接地评估患者体验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63276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七条一一对应：这不是「换个更好的分类器」，而是把评估目标整个换掉。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02 Fischer 2025 · 核心难题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能解码，不等于证明了意识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92224"/>
            <a:ext cx="5029200" cy="3712464"/>
          </a:xfrm>
          <a:prstGeom prst="roundRect">
            <a:avLst>
              <a:gd name="adj" fmla="val 320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2024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从刺激到体验，中间隔着好几步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77824" y="22860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2286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刺激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3090672" y="22860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stimulus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7824" y="27432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感觉加工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090672" y="27432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sensory processing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77824" y="32004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语义加工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090672" y="32004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processing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7824" y="36576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42416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注意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3090672" y="36576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77824" y="41148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DCF1F3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42416" y="4114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意识通达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090672" y="41148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access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77824" y="45720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DCF1F3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42416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主观体验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090672" y="457200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subjective experience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77824" y="5047488"/>
            <a:ext cx="4407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解码器能识别「语义加工」，但不能自动证明最后一步一定发生。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70448" y="1792224"/>
            <a:ext cx="5754319" cy="3712464"/>
          </a:xfrm>
          <a:prstGeom prst="roundRect">
            <a:avLst>
              <a:gd name="adj" fmla="val 3202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81344" y="1920240"/>
            <a:ext cx="51325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模型预测出一个词，至少有三种解释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181344" y="2322576"/>
            <a:ext cx="51325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 患者确实有意识地体验了它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181344" y="2651760"/>
            <a:ext cx="5132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这是作者希望成立、也是最有临床含义的解释。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181344" y="3236976"/>
            <a:ext cx="51325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 患者进行了无意识语义加工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181344" y="3566160"/>
            <a:ext cx="5132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语义加工可以在没有意识体验的情况下发生。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81344" y="4151376"/>
            <a:ext cx="51325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③ 模型用到了与意识无关的统计线索</a:t>
            </a:r>
            <a:endParaRPr lang="en-US" sz="1350" dirty="0"/>
          </a:p>
        </p:txBody>
      </p:sp>
      <p:sp>
        <p:nvSpPr>
          <p:cNvPr id="35" name="Text 32"/>
          <p:cNvSpPr txBox="1"/>
          <p:nvPr/>
        </p:nvSpPr>
        <p:spPr>
          <a:xfrm>
            <a:off x="6181344" y="4480560"/>
            <a:ext cx="5132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例如刺激的物理属性、注意或唤醒带来的稳定相关。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181344" y="5084064"/>
            <a:ext cx="51325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所以要加入对照：no-report、masking、意识／无意识条件、客观行为锚点、跨模态验证。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BCI 的下一步不一定只是让患者「说出来」，而可能是从脑活动中推断「他正在经历什么」——但可解码 ≠ 可证明为意识。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3 · 03 Kronemer 2025 · Nat Rev Neurosci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 BCI 为什么比普通 BCI 难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4206240" cy="4133088"/>
          </a:xfrm>
          <a:prstGeom prst="roundRect">
            <a:avLst>
              <a:gd name="adj" fmla="val 287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7510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先把「意识」拆成三个问题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77824" y="2395728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250545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level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2798064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有多可能处于清醒 / 有意识状态（wakefulness、alertness）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77824" y="3456432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356616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state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" y="3858768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某一时刻整体的意识状态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4517136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42416" y="4626864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content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4919472"/>
            <a:ext cx="3255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看到、听到、想到、感觉到的具体内容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77824" y="5559552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检测 level 与解码 content 是两个完全不同的问题。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47488" y="1810512"/>
            <a:ext cx="6577279" cy="2889504"/>
          </a:xfrm>
          <a:prstGeom prst="roundRect">
            <a:avLst>
              <a:gd name="adj" fmla="val 4114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76672" y="1975104"/>
            <a:ext cx="5918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核心困难：ground truth 缺失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5376672" y="2377440"/>
            <a:ext cx="5918911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普通 BCI 可以用行为结果作 ground truth；意识 BCI 恰恰缺这把标尺。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一个生理信号可能只对应注意、觉醒、感觉加工或运动准备，而不等于 conscious experience。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刺激报告本身会改变脑活动，因此需要 no-report paradigm。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约束条件：masking、注意力操控、no-report、跨模态验证。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47488" y="4846320"/>
            <a:ext cx="6577279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76672" y="4974336"/>
            <a:ext cx="591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伦理：mental privacy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376672" y="5266944"/>
            <a:ext cx="59189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谁能运行 decoder、患者能否拒绝被解码、误判会不会影响医疗决策——意识 BCI 的伦理风险与运动 BCI 明显不同。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▍本篇笔记为摘要级提取：原文与综述正文需机构订阅，以上结论基于公开摘要。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03 Kronemer 2025 · 概念框架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先把「意识」拆成三个问题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" y="2011680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level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2340864"/>
            <a:ext cx="29178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意识水平</a:t>
            </a:r>
            <a:endParaRPr lang="en-US" sz="2050" dirty="0"/>
          </a:p>
        </p:txBody>
      </p:sp>
      <p:sp>
        <p:nvSpPr>
          <p:cNvPr id="11" name="Shape 8"/>
          <p:cNvSpPr/>
          <p:nvPr/>
        </p:nvSpPr>
        <p:spPr>
          <a:xfrm>
            <a:off x="859536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2980944"/>
            <a:ext cx="2917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有多可能处于清醒 / 有意识状态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" y="3840480"/>
            <a:ext cx="2917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wakefulness、alertness、vigilance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4314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1474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36922" y="2011680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state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636922" y="2340864"/>
            <a:ext cx="29178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意识状态</a:t>
            </a:r>
            <a:endParaRPr lang="en-US" sz="2050" dirty="0"/>
          </a:p>
        </p:txBody>
      </p:sp>
      <p:sp>
        <p:nvSpPr>
          <p:cNvPr id="18" name="Shape 15"/>
          <p:cNvSpPr/>
          <p:nvPr/>
        </p:nvSpPr>
        <p:spPr>
          <a:xfrm>
            <a:off x="4636922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36922" y="2980944"/>
            <a:ext cx="2917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某一时刻整体的意识状态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636922" y="3840480"/>
            <a:ext cx="2917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随时间和情境变化的状态剖面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21701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58861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4309" y="2011680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Conscious content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414309" y="2340864"/>
            <a:ext cx="29178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意识内容</a:t>
            </a:r>
            <a:endParaRPr lang="en-US" sz="2050" dirty="0"/>
          </a:p>
        </p:txBody>
      </p:sp>
      <p:sp>
        <p:nvSpPr>
          <p:cNvPr id="25" name="Shape 22"/>
          <p:cNvSpPr/>
          <p:nvPr/>
        </p:nvSpPr>
        <p:spPr>
          <a:xfrm>
            <a:off x="8414309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4309" y="2980944"/>
            <a:ext cx="2917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看到、听到、想到、感觉到的具体内容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414309" y="3840480"/>
            <a:ext cx="29178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体验里的那个「什么」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4937760"/>
            <a:ext cx="11057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检测 level 与解码 content 是两个完全不同的问题——不是难度的差别，而是问题本身的差别：前者问「有没有、有多少」，后者问「是什么」。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46811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一个神经或生理指标可以被叫作「意识标记物」，但必须先说清它对应三者中的哪一个——否则「alpha 功率升高」会被直接写成「意识增强」。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03 Kronemer 2025 · 方法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为什么「让患者报告」会污染我们要测的东西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37360"/>
            <a:ext cx="11057839" cy="1280160"/>
          </a:xfrm>
          <a:prstGeom prst="roundRect">
            <a:avLst>
              <a:gd name="adj" fmla="val 9286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8470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 传统做法：把报告也算进测量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77824" y="21945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" y="21945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刺激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216298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17466" y="21945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08906" y="21945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患者报告「我看到了」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55941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7109" y="21945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8549" y="21945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2706624"/>
            <a:ext cx="104360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报告这个动作本身会改变脑活动——测量动作进入了被测量的对象。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3108960"/>
            <a:ext cx="11057839" cy="1280160"/>
          </a:xfrm>
          <a:prstGeom prst="roundRect">
            <a:avLst>
              <a:gd name="adj" fmla="val 9286"/>
            </a:avLst>
          </a:prstGeom>
          <a:solidFill>
            <a:srgbClr val="DCF1F3"/>
          </a:solidFill>
          <a:ln w="15875">
            <a:solidFill>
              <a:srgbClr val="1B8C9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32186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 no-report paradigm：把报告拿出去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77824" y="35661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35661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刺激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216298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17466" y="35661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08906" y="35661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 / 生理信号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755941" y="3566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957109" y="3566160"/>
            <a:ext cx="3356762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48549" y="356616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不要求显性报告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77824" y="4078224"/>
            <a:ext cx="104360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研究的是 consciousness 本身，而不是 reporting process。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6656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462686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 DoC 场景尤其关键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04672" y="4937760"/>
            <a:ext cx="3070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「能不能报告」本身就是待检验的变量，不能既当测量工具、又当结论依据。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332122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41850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69866" y="462686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它剥离的是报告过程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569866" y="4937760"/>
            <a:ext cx="3070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不是降低要求，而是把「报告」从信号里分离出去。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097317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07045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35061" y="462686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代价是失去行为锚点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8335061" y="4937760"/>
            <a:ext cx="3070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因此反过来要求更强的对照设计——这正是下一页四道对照的来由。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566928" y="572414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▍本页涉及 03 原文正文，笔记为摘要级提取：原文需机构订阅，以上为公开摘要与综述框架层面的整理。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第二幕 · 03 Kronemer 2025 · 验证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一条解码结果要成立，需要四道对照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2586152" cy="27432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02996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Masking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523744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同一刺激，分「被意识知觉」与「阈下」两种条件；解码性能应随意识状态系统性变化。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0824" y="1828800"/>
            <a:ext cx="2586152" cy="27432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28568" y="202996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注意力操控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3628568" y="2523744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同一刺激，分「注意」与「非注意」；用来排除注意相关加工被误读成意识。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4720" y="1828800"/>
            <a:ext cx="2586152" cy="27432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52464" y="202996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No-report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2523744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不要求患者回答，把报告过程从信号中剥离出去。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038615" y="1828800"/>
            <a:ext cx="2586152" cy="27432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76359" y="202996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跨模态验证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9276359" y="2523744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EEG + fMRI + 自主神经信号同时指向同一结论，而不是单一模态自证。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4718304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判据：如果模型在 conscious condition 下能稳定重建内容，而在 unconscious condition 下明显下降，才更可能说明解码信号与 conscious access 相关。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普通 BCI 可以用行为结果作为 ground truth；意识 BCI 恰恰面临 ground truth 缺失——这是它比普通 BCI 难的根本原因。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" y="4892040"/>
            <a:ext cx="1275588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 3 幕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737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内容重建与闭环</a:t>
            </a:r>
            <a:endParaRPr lang="en-US" sz="4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Reconstructing content, and closing the loop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当「读」这一步站稳，BCI 就从一次检查变成一条通道：语义可以被重建，语言可以流式输出，声音可以保留说话人的身份。再往前一步，就是检测、干预、再检测的闭环。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这一幕要交代的问题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22860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345168" y="2267712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为什么「意义」而不是「词」才是接口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887968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345168" y="3145536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流式输出与持续交互改变了什么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404164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345168" y="4023360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为什么必须多模态一起读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887968" y="4919472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345168" y="4901184"/>
            <a:ext cx="198699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从检测走向闭环调控：新机会与新风险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4 · 06 Tang 2023 · Nat Neurosci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语义可以被重建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4663440" cy="213969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" y="19751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非侵入式 · fMRI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2860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 → 语义表征 → 语言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88950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被试连续听自然叙事故事；编码模型把语言放在高维语义空间里，解码器再反推语义并生成候选词序列。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4078224"/>
            <a:ext cx="4663440" cy="1865376"/>
          </a:xfrm>
          <a:prstGeom prst="roundRect">
            <a:avLst>
              <a:gd name="adj" fmla="val 6373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关键判断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4517136"/>
            <a:ext cx="400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重建结果不逐字正确，但在语义层面保持了较强一致性——学的不是声音，是意义。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意义的重建可以跨模态：听到的语言、想象说的语言、无声视频，共用同一个解码器。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504688" y="1810512"/>
            <a:ext cx="6120079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33872" y="1956816"/>
            <a:ext cx="5461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测到了什么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33872" y="2304288"/>
            <a:ext cx="546171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72–82% 的时间点，解码结果与原始故事的 BERTScore 显著高于随机水平。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只让被试阅读解码出来的文字，16 道阅读理解题中答对 9 道——解码文本在行为上真的可用。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在多个皮层区域都能分别解出连续语言，不是单一区域的产物。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04688" y="3950208"/>
            <a:ext cx="6120079" cy="1993392"/>
          </a:xfrm>
          <a:prstGeom prst="roundRect">
            <a:avLst>
              <a:gd name="adj" fmla="val 5963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33872" y="4096512"/>
            <a:ext cx="5461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但不能就此说「读心」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833872" y="4443984"/>
            <a:ext cx="5461711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跨被试训练的 decoder 只略高于随机——训练必须个体化，且需要被试配合。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默算、默想动物、讲另一个故事，都能显著压低解码性能：语义解码可被有意识抵抗。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fMRI 无法做成实时 BCI；语义重建 ≠ 逐字转录。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06 Tang 2023 · 方法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为什么「意义」才是接口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73936"/>
            <a:ext cx="5029200" cy="1572768"/>
          </a:xfrm>
          <a:prstGeom prst="roundRect">
            <a:avLst>
              <a:gd name="adj" fmla="val 7558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202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 → 词</a:t>
            </a:r>
            <a:endParaRPr lang="en-US" sz="185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340864"/>
            <a:ext cx="44074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识别的是刺激本身：这个人听到了哪个词。仍然接近 stimulus recognition。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70448" y="1773936"/>
            <a:ext cx="5754319" cy="1572768"/>
          </a:xfrm>
          <a:prstGeom prst="roundRect">
            <a:avLst>
              <a:gd name="adj" fmla="val 7558"/>
            </a:avLst>
          </a:prstGeom>
          <a:solidFill>
            <a:srgbClr val="DCF1F3"/>
          </a:solidFill>
          <a:ln w="15875">
            <a:solidFill>
              <a:srgbClr val="2FB8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920240"/>
            <a:ext cx="51325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 → 意义</a:t>
            </a:r>
            <a:endParaRPr lang="en-US" sz="1850" dirty="0"/>
          </a:p>
        </p:txBody>
      </p:sp>
      <p:sp>
        <p:nvSpPr>
          <p:cNvPr id="12" name="Text 9"/>
          <p:cNvSpPr txBox="1"/>
          <p:nvPr/>
        </p:nvSpPr>
        <p:spPr>
          <a:xfrm>
            <a:off x="6181344" y="2340864"/>
            <a:ext cx="513252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重建的是这个人理解到的内容。更接近高层级的认知表征，也更接近意识研究关心的东西。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47472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意识体验往往不是感官像素，而是整合后的语义与概念内容——所以语义层面的「差不多」，比逐词正确率更接近我们真正想读的东西。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005072"/>
            <a:ext cx="3527450" cy="177393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088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206240"/>
            <a:ext cx="30153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指标选择本身就是立场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846320"/>
            <a:ext cx="30153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不同词可以表达同一意思（“we were busy” 与 “we had a lot of work”），所以用 BERTScore 这类意义相似度衡量；用 WER 衡量会系统性低估这套系统的价值。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32122" y="4005072"/>
            <a:ext cx="3527450" cy="177393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69282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88154" y="4206240"/>
            <a:ext cx="30153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行为学验证：解码文本真的可用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88154" y="4846320"/>
            <a:ext cx="30153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只让被试阅读解码出来的文字，16 道阅读理解题中答对 9 道。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7317" y="4005072"/>
            <a:ext cx="3527450" cy="1773936"/>
          </a:xfrm>
          <a:prstGeom prst="roundRect">
            <a:avLst>
              <a:gd name="adj" fmla="val 670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34477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53349" y="4206240"/>
            <a:ext cx="301538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意义是跨模态共享的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353349" y="4846320"/>
            <a:ext cx="30153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听过的语言、想象说的语言、无声视频，共用同一个解码器。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06 Tang 2023 · 边界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语义解码的四个代价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2586152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1993392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设备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450592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fMRI 需要大型设备与完全配合，无法直接做成实时临床 BCI。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90824" y="1810512"/>
            <a:ext cx="2586152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7984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28568" y="1993392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训练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3628568" y="2450592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跨被试训练的 decoder 只略高于随机，模型必须个体化，且需要被试配合。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4720" y="1810512"/>
            <a:ext cx="2586152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1880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52464" y="1993392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抵抗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6452464" y="2450592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默算、默想动物、讲另一个故事，都会显著压低解码性能——解码可以被有意识地抵抗。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038615" y="1810512"/>
            <a:ext cx="2586152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75775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76359" y="1993392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隐私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9276359" y="2450592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如果语义可以被恢复，mental privacy 就从假设变成一个现实问题。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4059936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本汇报推论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" y="4480560"/>
            <a:ext cx="1043604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一篇以「能解码多少」为卖点的论文里，最有价值的证据其实是「可以被抵抗」：它证明输出真的取决于被试当下的认知状态，而不是信号里一个稳定的指纹。这也意味着，跨被试失败的结论不能直接外推到意识障碍患者——我们无从确认他们能不能表达「不合作」。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语义解码目前仍是 proof of principle；真正临床可用的版本，需要把同样的能力搬到 EEG / ECoG / iEEG 上做实时解码。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04 Littlejohn 2025 · 概念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延迟不是体验问题，而是范式问题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12745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792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 等待式：先判断有没有在说，再解码整段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7824" y="2103120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2103120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检测语音起始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354248" y="21031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24326" y="2103120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79190" y="2103120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收集整段信号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000750" y="21031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0828" y="2103120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25692" y="2103120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647252" y="2103120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17331" y="2103120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72195" y="2103120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77824" y="2468880"/>
            <a:ext cx="10436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系统必须知道一句话什么时候开始、什么时候结束。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2779776"/>
            <a:ext cx="11057839" cy="932688"/>
          </a:xfrm>
          <a:prstGeom prst="roundRect">
            <a:avLst>
              <a:gd name="adj" fmla="val 12745"/>
            </a:avLst>
          </a:prstGeom>
          <a:solidFill>
            <a:srgbClr val="DCF1F3"/>
          </a:solidFill>
          <a:ln w="15875">
            <a:solidFill>
              <a:srgbClr val="1B8C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7824" y="2834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 流式：神经流一直进，80 ms 一块地解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77824" y="3145536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" y="3145536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神经流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354248" y="3145536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524326" y="3145536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79190" y="3145536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80 ms 分块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000750" y="3145536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0828" y="3145536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25692" y="3145536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在线解码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647252" y="3145536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817331" y="3145536"/>
            <a:ext cx="2494712" cy="402336"/>
          </a:xfrm>
          <a:prstGeom prst="roundRect">
            <a:avLst>
              <a:gd name="adj" fmla="val 2954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872195" y="3145536"/>
            <a:ext cx="238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即时合成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77824" y="3511296"/>
            <a:ext cx="10436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不需要独立的语音起始检测器，也不需要等一句话说完。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66928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4088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40965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系统一直在听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4517136"/>
            <a:ext cx="30153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连续工作、减少等待，支持自然对话——而不是一问一答。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332122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469282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88154" y="40965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不需要开始 / 结束信号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588154" y="4517136"/>
            <a:ext cx="30153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解码器自己完成隐式的语音检测，患者不用先「启动」系统。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097317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34477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353349" y="4096512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关键数字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8353349" y="4517136"/>
            <a:ext cx="30153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80 ms 增量解码；单次推理在 80 ms 内完成的比例约 99.3%；流式约 46.5 词/分，延迟合成约 24.8 词/分。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66928" y="52852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本汇报推论：流式改变的不只是速度，而是「系统一直在场」这个前提——而持续在场，恰好是意识评估最需要的那个前提。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assessment 到 communication 的关键跨越：问题不再只是「能不能检测到」，而是「能不能持续表达」。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5 · 04 Littlejohn 2025 &amp; 05 Wairagkar 2025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两条路线：流式语言 vs 直接声学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5373472" cy="404164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199339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Nature Neuroscience 2025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267712"/>
            <a:ext cx="475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流式脑→语音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记录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865376" y="2779776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高密度皮层表面电极（ECoG），重点覆盖言语感觉运动皮层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865376" y="3474720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RNN-T 类模型，按 80 ms 增量在线解码，不依赖独立的语音起始检测器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4169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结果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65376" y="4169664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流式合成约 46.5 词/分（延迟合成 24.8 词/分）；单次推理在 80 ms 内完成的比例约 99.3%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代价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865376" y="4864608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1024 词通用句集上，语音 WER 中位数约 40.8%，文本约 30.7%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" y="555955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本篇笔记为摘要级提取。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51296" y="1810512"/>
            <a:ext cx="5373472" cy="404164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8456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62192" y="199339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Nature 2025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62192" y="2267712"/>
            <a:ext cx="475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即时声音合成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562192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记录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549744" y="2779776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皮层内 4 个微电极阵列共 256 个电极，约 1 ms 数据包实时进入系统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562192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549744" y="3474720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Transformer 直接预测声学语音特征，再驱动合成器输出声音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562192" y="4169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结果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549744" y="4169664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 选 1 句子匹配平均准确率 94.34%；合成语音 WER 43.75%，而患者自身残余语音为 96.43%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562192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549744" y="4864608"/>
            <a:ext cx="3764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因果（实时）合成质量仍低于事后合成（倒谱失真 2.9 对 2.4）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562192" y="5559552"/>
            <a:ext cx="475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基于本地全文，含作者自陈局限。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5998464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共同结论：BCI 已从「解码想移动什么」走到「解码想说什么，以及声音该怎么表达」。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05 Wairagkar 2025 · Nature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声音不只是「说了什么」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92224"/>
            <a:ext cx="4206240" cy="3767328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" y="193852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语言有很多层级，这项研究抓的是最后一段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9536" y="23042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24128" y="23042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thought 想法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9536" y="27614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4128" y="27614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semantic 语义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9536" y="32186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24128" y="32186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linguistic 语言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9536" y="36758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4128" y="36758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phonological 音位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536" y="41330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DCF1F3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4128" y="41330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articulatory 发音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59536" y="4590288"/>
            <a:ext cx="3621024" cy="402336"/>
          </a:xfrm>
          <a:prstGeom prst="roundRect">
            <a:avLst>
              <a:gd name="adj" fmla="val 29545"/>
            </a:avLst>
          </a:prstGeom>
          <a:solidFill>
            <a:srgbClr val="DCF1F3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24128" y="45902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acoustic 声学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502920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本研究报告的是：从发音相关神经表征直接预测声学输出。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47488" y="1792224"/>
            <a:ext cx="6577279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57216" y="1920240"/>
            <a:ext cx="68580" cy="585216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21808" y="1865376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副语言特征被解出来了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5321808" y="2157984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除音位内容外，还从皮层内活动解码出副语言特征，参与者可以实时调节合成语音的语调，并演唱短旋律。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47488" y="2724912"/>
            <a:ext cx="6577279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57216" y="2852928"/>
            <a:ext cx="68580" cy="585216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21808" y="2798064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能说词表以外的声音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5321808" y="3090672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可以直接产生非词声音与感叹词，这是依赖语言模型 / 词表的语音 BCI 做不到的；而且这些类别并未用于训练。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47488" y="3657600"/>
            <a:ext cx="6577279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57216" y="3785616"/>
            <a:ext cx="68580" cy="585216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321808" y="3730752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默说也能合成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5321808" y="4023360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只在有声模仿说话上训练过的解码器，对默说（mimed speech）同样能合成（r = 0.82±0.03，与有声条件无统计差异），参与者还反馈默说更省力。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047488" y="4590288"/>
            <a:ext cx="6577279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57216" y="4718304"/>
            <a:ext cx="68580" cy="58521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321808" y="4663440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身份被保留下来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5321808" y="4956048"/>
            <a:ext cx="6065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合成的是他自己的声音。参与者用它报告：听到自己的声音「made me feel happy and it felt like my real voice」。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55961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声音同时传递情绪、强调、语调与说话方式——所以 speech BCI 的目标从 text output 转向 natural communication。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 Wairagkar 2025 · Nature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一个反直觉的发现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pic>
        <p:nvPicPr>
          <p:cNvPr id="7" name="Image 1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5120640"/>
            <a:ext cx="12755880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883664"/>
            <a:ext cx="5029200" cy="1737360"/>
          </a:xfrm>
          <a:prstGeom prst="roundRect">
            <a:avLst>
              <a:gd name="adj" fmla="val 6842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32688" y="2029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output-potent 维度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32688" y="23042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2.5%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3035808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的神经活动方差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32688" y="3145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解码相关系数 r = 0.82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33872" y="1883664"/>
            <a:ext cx="5788152" cy="1737360"/>
          </a:xfrm>
          <a:prstGeom prst="roundRect">
            <a:avLst>
              <a:gd name="adj" fmla="val 6842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99632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output-null 维度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23042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97.5%</a:t>
            </a:r>
            <a:endParaRPr lang="en-US" sz="4800" dirty="0"/>
          </a:p>
        </p:txBody>
      </p:sp>
      <p:sp>
        <p:nvSpPr>
          <p:cNvPr id="16" name="Text 12"/>
          <p:cNvSpPr txBox="1"/>
          <p:nvPr/>
        </p:nvSpPr>
        <p:spPr>
          <a:xfrm>
            <a:off x="8357616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的神经活动方差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3145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解码相关系数 r = 0.85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" y="3840480"/>
            <a:ext cx="11057839" cy="1298448"/>
          </a:xfrm>
          <a:prstGeom prst="roundRect">
            <a:avLst>
              <a:gd name="adj" fmla="val 9155"/>
            </a:avLst>
          </a:prstGeom>
          <a:solidFill>
            <a:srgbClr val="13293F"/>
          </a:solidFill>
          <a:ln w="15875">
            <a:solidFill>
              <a:srgbClr val="2FB8C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32688" y="4005072"/>
            <a:ext cx="103263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只占 2.5% 方差的「输出相关」维度，解码效果几乎与占 97.5% 方差的「输出无关」维度相当。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4462272"/>
            <a:ext cx="103263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作者的解释：言语运动皮层的多数活动并不直接驱动发声，而是在为整句做计划与缓冲（「整句缓冲、逐渐清空」）。这部分「看不见的输出」，反而给因果解码提供了提前量。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对工程的意义：低时延解码之所以可行，靠的可能正是这部分「准备性活动」。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6 · 07 du Bois 2026 · Communications Medicine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从概念验证走向床旁系统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847088"/>
            <a:ext cx="29910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44</a:t>
            </a:r>
            <a:endParaRPr lang="en-US" sz="28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68880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名参与者：UWS 14 / MCS 17 / LIS 11，另 2 名健全者作基准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6026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00346" y="1847088"/>
            <a:ext cx="29910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73.8%</a:t>
            </a:r>
            <a:endParaRPr lang="en-US" sz="2850" dirty="0"/>
          </a:p>
        </p:txBody>
      </p:sp>
      <p:sp>
        <p:nvSpPr>
          <p:cNvPr id="12" name="Text 9"/>
          <p:cNvSpPr txBox="1"/>
          <p:nvPr/>
        </p:nvSpPr>
        <p:spPr>
          <a:xfrm>
            <a:off x="4600346" y="2468880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的患者获得显著的运动想象 BCI 解码准确率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85125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59445" y="1847088"/>
            <a:ext cx="29910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90%</a:t>
            </a:r>
            <a:endParaRPr lang="en-US" sz="2850" dirty="0"/>
          </a:p>
        </p:txBody>
      </p:sp>
      <p:sp>
        <p:nvSpPr>
          <p:cNvPr id="15" name="Text 12"/>
          <p:cNvSpPr txBox="1"/>
          <p:nvPr/>
        </p:nvSpPr>
        <p:spPr>
          <a:xfrm>
            <a:off x="8359445" y="2468880"/>
            <a:ext cx="299100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的显著者进入问答阶段，常超过 70% 的可用性阈值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75488" y="3291840"/>
          <a:ext cx="5806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6510528" y="3291840"/>
            <a:ext cx="5114239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21424" y="3438144"/>
            <a:ext cx="44924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最锋利的一处：与行为学不共线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21424" y="3822192"/>
            <a:ext cx="4492447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解码准确率与 WHIM 显著相关（偏相关 r = 0.43，p = 0.02），与 CRS-R 无关（p = 0.89）。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单模态排名：WHIM 59.4% ＞ DA 57.3% ＞ CRS-R 49.4%——行为学金标准 CRS-R 反而是三者中最弱。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收益集中在 MCS：灵敏度 39% → 69%；LIS 反而略降（78% → 67%），提示 LIS 仍以 DA 单独预测最好。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07 du Bois 2026 · 临床应用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意识评估不是一次横断面检查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5029200" cy="2103120"/>
          </a:xfrm>
          <a:prstGeom prst="roundRect">
            <a:avLst>
              <a:gd name="adj" fmla="val 5652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38528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一次性检查的三种失败模式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322576"/>
            <a:ext cx="4407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疲劳：越到测试后段，表现越差。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注意波动：单次测量的信噪比本就很低。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单次阴性：很容易被读成「无意识」，于是把「这一次没测到」当成「没有」。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70448" y="1810512"/>
            <a:ext cx="575431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938528"/>
            <a:ext cx="5132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结构化、多阶段的交互方案（44 人）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81344" y="2322576"/>
            <a:ext cx="51325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阶段推进：感觉运动节律调制 → BCI 训练 → 有 / 无神经反馈训练 → 二选一问答。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每次会话同步做 CRS-R 与 WHIM 行为学评估，两种尺子都留着。</a:t>
            </a:r>
            <a:endParaRPr lang="en-US" sz="1200" dirty="0"/>
          </a:p>
          <a:p>
            <a:pPr marL="177800" indent="-1778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73.8% 的患者达到显著的解码准确率，其中 90% 进入问答阶段。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041648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4151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从「检查」到「对话」：交互回路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7782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/>
          </a:solidFill>
          <a:ln w="12700">
            <a:solidFill>
              <a:srgbClr val="DCF1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4480560"/>
            <a:ext cx="186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系统发出指令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829702" y="448056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99429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/>
          </a:solidFill>
          <a:ln w="12700">
            <a:solidFill>
              <a:srgbClr val="DCF1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49158" y="4480560"/>
            <a:ext cx="186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患者产生内部反应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946172" y="448056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11076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/>
          </a:solidFill>
          <a:ln w="12700">
            <a:solidFill>
              <a:srgbClr val="DCF1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65628" y="4480560"/>
            <a:ext cx="186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EEG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062643" y="448056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2723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/>
          </a:solidFill>
          <a:ln w="12700">
            <a:solidFill>
              <a:srgbClr val="DCF1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82099" y="4480560"/>
            <a:ext cx="186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decoder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179113" y="4480560"/>
            <a:ext cx="164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34370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/>
          </a:solidFill>
          <a:ln w="12700">
            <a:solidFill>
              <a:srgbClr val="DCF1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98569" y="4480560"/>
            <a:ext cx="18604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系统继续交互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77824" y="4901184"/>
            <a:ext cx="104360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本汇报推论：这把「一次表现」换成「随时间的可重复性」，等于把单次阴性从「证据」降级为「一个事件」。04 的流式与 07 的持续交互其实是同一件事的两个层面——一个是通道连续，一个是关系连续。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 BCI 正从实验室的 EEG 范式，走向 wearable、interactive、bedside 的系统。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6 · 需要标注的地方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两处需要谨慎阅读的结果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01952"/>
            <a:ext cx="5117440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01168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 一个尚未区分的效应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37744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限定「显著 run」后，UWS 组在问答阶段的解码准确率反而高于 MCS 组（p = 0.049）。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090672"/>
            <a:ext cx="476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解释 A：问答由熟悉的照护者／亲属录音，情感显著性提升了 UWS 患者的投入度。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解释 B：UWS 组本身被标准行为学评估系统性低估。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作者并列给出两种解释，并未区分——这正是「MI-BCI 可能发现被漏掉的人」的最强线索，也仍是待检验的问题。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810512"/>
            <a:ext cx="5391760" cy="2688336"/>
          </a:xfrm>
          <a:prstGeom prst="roundRect">
            <a:avLst>
              <a:gd name="adj" fmla="val 4422"/>
            </a:avLst>
          </a:prstGeom>
          <a:solidFill>
            <a:srgbClr val="FCEEDA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43904" y="2011680"/>
            <a:ext cx="476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 一个数字不一致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6543904" y="237744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融合模型的平衡诊断准确率，在文中出现了三个数值：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543904" y="2798064"/>
            <a:ext cx="1498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61.81%</a:t>
            </a:r>
            <a:endParaRPr lang="en-US" sz="2050" dirty="0"/>
          </a:p>
        </p:txBody>
      </p:sp>
      <p:sp>
        <p:nvSpPr>
          <p:cNvPr id="16" name="Text 13"/>
          <p:cNvSpPr txBox="1"/>
          <p:nvPr/>
        </p:nvSpPr>
        <p:spPr>
          <a:xfrm>
            <a:off x="6543904" y="3236976"/>
            <a:ext cx="1498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Results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33893" y="2798064"/>
            <a:ext cx="1498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63.21%</a:t>
            </a:r>
            <a:endParaRPr lang="en-US" sz="2050" dirty="0"/>
          </a:p>
        </p:txBody>
      </p:sp>
      <p:sp>
        <p:nvSpPr>
          <p:cNvPr id="18" name="Text 15"/>
          <p:cNvSpPr txBox="1"/>
          <p:nvPr/>
        </p:nvSpPr>
        <p:spPr>
          <a:xfrm>
            <a:off x="8133893" y="3236976"/>
            <a:ext cx="1498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723882" y="2798064"/>
            <a:ext cx="14985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62%</a:t>
            </a:r>
            <a:endParaRPr lang="en-US" sz="2050" dirty="0"/>
          </a:p>
        </p:txBody>
      </p:sp>
      <p:sp>
        <p:nvSpPr>
          <p:cNvPr id="20" name="Text 17"/>
          <p:cNvSpPr txBox="1"/>
          <p:nvPr/>
        </p:nvSpPr>
        <p:spPr>
          <a:xfrm>
            <a:off x="9723882" y="3236976"/>
            <a:ext cx="1498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Abstract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43904" y="3566160"/>
            <a:ext cx="476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引用时建议写作「约 62%（61.8–63.2%）」，或以出版社终版为准。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4645152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736592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③ 一个关键限定：诊断本身就是用有缺陷的尺子做出的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5065776"/>
            <a:ext cx="103263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A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“At issue is whether diagnoses formed using assessment measures that require overt behavioural responses are accurate.”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32688" y="5522976"/>
            <a:ext cx="103263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作者用这一句把问题打回原点：CRS-R 与 WHIM 都要求外显行为，因此不能拿它们当作「意识」的绝对金标准。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08 Kordas 2026 · 多模态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为什么必须一起读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92224"/>
            <a:ext cx="5029200" cy="2450592"/>
          </a:xfrm>
          <a:prstGeom prst="roundRect">
            <a:avLst>
              <a:gd name="adj" fmla="val 4851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1920240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单一模态各自的边界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2860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773936" y="22860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时间分辨率高、可床旁；但空间分辨率有限，且背景活动异常时信号质量差。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9260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fMRI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773936" y="29260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空间分辨率高；但时间分辨率差、不可移动，重症患者转运困难。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3566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fNIRS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35661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可便携、可在床旁重复、能结合主动范式；但只是间接的血流动力学指标。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70448" y="1792224"/>
            <a:ext cx="5754319" cy="2450592"/>
          </a:xfrm>
          <a:prstGeom prst="roundRect">
            <a:avLst>
              <a:gd name="adj" fmla="val 4851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81344" y="1920240"/>
            <a:ext cx="5132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融合的目标：把各自的盲区互相补上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81344" y="2286000"/>
            <a:ext cx="1613306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36208" y="2286000"/>
            <a:ext cx="150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EEG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40954" y="2286000"/>
            <a:ext cx="1613306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95818" y="2286000"/>
            <a:ext cx="150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fMRI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700565" y="2286000"/>
            <a:ext cx="1613306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55429" y="2286000"/>
            <a:ext cx="150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fNIRS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81344" y="2852928"/>
            <a:ext cx="1613306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36208" y="2852928"/>
            <a:ext cx="150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生理信号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40954" y="2852928"/>
            <a:ext cx="1613306" cy="457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95818" y="2852928"/>
            <a:ext cx="150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行为学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181344" y="3493008"/>
            <a:ext cx="51325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融合 → 多模态认知状态评估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66928" y="4389120"/>
            <a:ext cx="11057839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7824" y="4517136"/>
            <a:ext cx="104360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作者明确限定：自主神经指标（心率变异性、压力反射指数）是觉醒与投入的辅助生理背景，不是意识的直接标志物。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本汇报推论：单一模态的阴性结果，无法区分「没有意识」和「这个模态看不到」——这正是必须多模态的根本理由，而不是把准确率再抬几个百分点。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观点 7 · 08 Kordas 2026 · J Clin Med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下一阶段：多模态 + AI + 个体化 + 闭环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737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从诊断到交流：五个阶段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66928" y="2048256"/>
            <a:ext cx="2431024" cy="749808"/>
          </a:xfrm>
          <a:prstGeom prst="chevron">
            <a:avLst/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130552"/>
            <a:ext cx="188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368296"/>
            <a:ext cx="186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意识状态分类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23632" y="2048256"/>
            <a:ext cx="2431024" cy="749808"/>
          </a:xfrm>
          <a:prstGeom prst="chevron">
            <a:avLst/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34528" y="2130552"/>
            <a:ext cx="188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034528" y="2368296"/>
            <a:ext cx="186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隐蔽指令检测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80336" y="2048256"/>
            <a:ext cx="2431024" cy="749808"/>
          </a:xfrm>
          <a:prstGeom prst="chevron">
            <a:avLst/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91232" y="2130552"/>
            <a:ext cx="188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191232" y="2368296"/>
            <a:ext cx="186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 / 否 交流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37040" y="2048256"/>
            <a:ext cx="2431024" cy="749808"/>
          </a:xfrm>
          <a:prstGeom prst="chevron">
            <a:avLst/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7936" y="2130552"/>
            <a:ext cx="188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47936" y="2368296"/>
            <a:ext cx="186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语义解码 → 语言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93743" y="2048256"/>
            <a:ext cx="2431024" cy="749808"/>
          </a:xfrm>
          <a:prstGeom prst="chevron">
            <a:avLst/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04639" y="2130552"/>
            <a:ext cx="188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5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504639" y="2368296"/>
            <a:ext cx="186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意识内容 → 交流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3072384"/>
            <a:ext cx="6903720" cy="27432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" y="32186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从检测到闭环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9611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3694176"/>
            <a:ext cx="987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2011680" y="3694176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17627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49424" y="3694176"/>
            <a:ext cx="987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解码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291840" y="3694176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45643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29584" y="3694176"/>
            <a:ext cx="987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意识状态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3694176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73659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9744" y="3694176"/>
            <a:ext cx="987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神经调控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5852160" y="3694176"/>
            <a:ext cx="182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01675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89904" y="3694176"/>
            <a:ext cx="987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再评估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896112" y="4846320"/>
            <a:ext cx="6254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BCI 不再只是被动测量，而可能成为「评估 + 干预」系统：检测 → 干预 → 再检测。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7744968" y="3072384"/>
            <a:ext cx="3879799" cy="2743200"/>
          </a:xfrm>
          <a:prstGeom prst="roundRect">
            <a:avLst>
              <a:gd name="adj" fmla="val 4333"/>
            </a:avLst>
          </a:prstGeom>
          <a:solidFill>
            <a:srgbClr val="E7EFF6"/>
          </a:solidFill>
          <a:ln w="12700">
            <a:solidFill>
              <a:srgbClr val="E7EFF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55864" y="3218688"/>
            <a:ext cx="32580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在其中的四个角色</a:t>
            </a:r>
            <a:endParaRPr lang="en-US" sz="1450" dirty="0"/>
          </a:p>
        </p:txBody>
      </p:sp>
      <p:sp>
        <p:nvSpPr>
          <p:cNvPr id="42" name="Text 39"/>
          <p:cNvSpPr txBox="1"/>
          <p:nvPr/>
        </p:nvSpPr>
        <p:spPr>
          <a:xfrm>
            <a:off x="8055864" y="3639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特征提取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9500616" y="3639312"/>
            <a:ext cx="1813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频谱、连接性、时间动态、网络表征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8055864" y="41696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表征学习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9500616" y="4169664"/>
            <a:ext cx="1813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寻找可迁移的神经状态表征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8055864" y="4700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多模态融合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9500616" y="4700016"/>
            <a:ext cx="1813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EEG / fMRI / fNIRS / 生理 / 行为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8055864" y="52303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个体化解码</a:t>
            </a:r>
            <a:endParaRPr lang="en-US" sz="125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5230368"/>
            <a:ext cx="18132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不同患者损伤位置不同，需要患者级适配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第三幕 · 08 Kordas 2026 · 闭环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从检测到闭环：把「测量」和「干预」绑在一起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pic>
        <p:nvPicPr>
          <p:cNvPr id="7" name="Image 1" descr="/Users/oldma/knowledge/artical/Brain-Computer Interface/.tools/assets/wav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0" y="5394960"/>
            <a:ext cx="12755880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脑信号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2144725" y="1773936"/>
            <a:ext cx="201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336749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391613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解码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914546" y="1773936"/>
            <a:ext cx="201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106570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61434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意识状态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684368" y="1773936"/>
            <a:ext cx="201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876392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31256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神经调控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454189" y="1773936"/>
            <a:ext cx="201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646213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01077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新的大脑状态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9224010" y="1773936"/>
            <a:ext cx="2011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9416034" y="1773936"/>
            <a:ext cx="1586941" cy="786384"/>
          </a:xfrm>
          <a:prstGeom prst="roundRect">
            <a:avLst>
              <a:gd name="adj" fmla="val 15116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70898" y="1773936"/>
            <a:ext cx="147721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再评估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66928" y="2688336"/>
            <a:ext cx="11057839" cy="457200"/>
          </a:xfrm>
          <a:prstGeom prst="roundRect">
            <a:avLst>
              <a:gd name="adj" fmla="val 26000"/>
            </a:avLst>
          </a:prstGeom>
          <a:solidFill>
            <a:srgbClr val="0A1A2F"/>
          </a:solidFill>
          <a:ln w="15875">
            <a:solidFill>
              <a:srgbClr val="2FB8C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1248" y="2688336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检测 → 干预 → 再检测：BCI 不再只是被动测量，而可能成为「评估 + 干预」系统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566928" y="3273552"/>
            <a:ext cx="5382616" cy="2048256"/>
          </a:xfrm>
          <a:prstGeom prst="roundRect">
            <a:avLst>
              <a:gd name="adj" fmla="val 5804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59536" y="340156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闭环解决了什么</a:t>
            </a:r>
            <a:endParaRPr lang="en-US" sz="1450" dirty="0"/>
          </a:p>
        </p:txBody>
      </p:sp>
      <p:sp>
        <p:nvSpPr>
          <p:cNvPr id="29" name="Text 25"/>
          <p:cNvSpPr txBox="1"/>
          <p:nvPr/>
        </p:nvSpPr>
        <p:spPr>
          <a:xfrm>
            <a:off x="859536" y="3749040"/>
            <a:ext cx="479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把「相关」变成「因果」：如果调控改变了信号、信号变化又伴随状态变化，说明该信号确实与状态相关。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 BCI 从被动测量变成 assessment + intervention system。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把「读完就结束」的评估，变成可以反复修正的过程。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42152" y="3273552"/>
            <a:ext cx="5382616" cy="2048256"/>
          </a:xfrm>
          <a:prstGeom prst="roundRect">
            <a:avLst>
              <a:gd name="adj" fmla="val 5804"/>
            </a:avLst>
          </a:prstGeom>
          <a:solidFill>
            <a:srgbClr val="13293F"/>
          </a:solidFill>
          <a:ln w="15875">
            <a:solidFill>
              <a:srgbClr val="D98A2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34760" y="340156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闭环同时制造了什么（本汇报推论）</a:t>
            </a:r>
            <a:endParaRPr lang="en-US" sz="1450" dirty="0"/>
          </a:p>
        </p:txBody>
      </p:sp>
      <p:sp>
        <p:nvSpPr>
          <p:cNvPr id="32" name="Text 28"/>
          <p:cNvSpPr txBox="1"/>
          <p:nvPr/>
        </p:nvSpPr>
        <p:spPr>
          <a:xfrm>
            <a:off x="6534760" y="3749040"/>
            <a:ext cx="479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ground truth 不再独立：调控本身改变了状态，「再检测」读到的可能不是自然状态。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因此闭环研究必须预设「自然状态基线 + 调控后对照」，否则因果解释会绕回自己。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伦理问题的性质也变了：从 mental privacy（读不读得到）变成 agency（能不能被调控、谁来授权）。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566928" y="539496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这也是目前文献里最薄的一环：08 把闭环作为展望提出，尚无临床证据支持，伦理授权问题更是基本空白。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4"/>
            </a:avLst>
          </a:prstGeom>
          <a:solidFill>
            <a:srgbClr val="13293F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汇报结论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未来意识 BCI 不太可能依赖单一脑信号或单一分类器，而更可能是多模态神经信号 + AI + 个体化模型 + 交互式 BCI 的组合。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OPEN PROBLEMS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五个真正的研究空白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212848"/>
            <a:ext cx="1560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542032"/>
            <a:ext cx="15605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状态与内容没有打通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04672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3639312"/>
            <a:ext cx="15605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state decoding 与 content decoding 目前仍是两条相对独立的路线。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22387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59547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60131" y="2212848"/>
            <a:ext cx="1560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060131" y="2542032"/>
            <a:ext cx="15605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跨人群迁移困难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3060131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60131" y="3639312"/>
            <a:ext cx="15605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健康人的稳定神经表征，难以直接迁移到受损、重组的患者脑网络。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77846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5006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15590" y="2212848"/>
            <a:ext cx="1560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3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315590" y="2542032"/>
            <a:ext cx="15605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ground truth 缺失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5315590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15590" y="3639312"/>
            <a:ext cx="15605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意识本身没有可直接观测的金标准，只能间接验证。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33305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70465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0F3A57"/>
          </a:solidFill>
          <a:ln w="12700">
            <a:solidFill>
              <a:srgbClr val="0F3A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71049" y="2212848"/>
            <a:ext cx="1560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A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4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571049" y="2542032"/>
            <a:ext cx="15605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实时性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7571049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71049" y="3639312"/>
            <a:ext cx="15605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fMRI 语义解码能力最强，却无法支撑真正的实时 BCI。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588764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25924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26508" y="2212848"/>
            <a:ext cx="1560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5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826508" y="2542032"/>
            <a:ext cx="15605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隐私边界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9826508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826508" y="3639312"/>
            <a:ext cx="15605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decoder 越强，越逼近 mental privacy 的边界。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779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五个空白里，前三个是科学问题，后两个是工程与治理问题。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OUR STANCE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三条不能混用的层级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938528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2066544"/>
            <a:ext cx="68580" cy="640080"/>
          </a:xfrm>
          <a:prstGeom prst="roundRect">
            <a:avLst>
              <a:gd name="adj" fmla="val 50000"/>
            </a:avLst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1938528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1353312" y="1938528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神经信息可解码</a:t>
            </a:r>
            <a:endParaRPr lang="en-US" sz="1850" dirty="0"/>
          </a:p>
        </p:txBody>
      </p:sp>
      <p:sp>
        <p:nvSpPr>
          <p:cNvPr id="11" name="Text 8"/>
          <p:cNvSpPr txBox="1"/>
          <p:nvPr/>
        </p:nvSpPr>
        <p:spPr>
          <a:xfrm>
            <a:off x="4681728" y="1938528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有信息，而且能被模型稳定读出。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704527" y="193852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工程事实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2999232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" y="3127248"/>
            <a:ext cx="68580" cy="640080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2999232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</a:t>
            </a:r>
            <a:endParaRPr lang="en-US" sz="1850" dirty="0"/>
          </a:p>
        </p:txBody>
      </p:sp>
      <p:sp>
        <p:nvSpPr>
          <p:cNvPr id="16" name="Text 13"/>
          <p:cNvSpPr txBox="1"/>
          <p:nvPr/>
        </p:nvSpPr>
        <p:spPr>
          <a:xfrm>
            <a:off x="1353312" y="2999232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covert cognition</a:t>
            </a:r>
            <a:endParaRPr lang="en-US" sz="1850" dirty="0"/>
          </a:p>
        </p:txBody>
      </p:sp>
      <p:sp>
        <p:nvSpPr>
          <p:cNvPr id="17" name="Text 14"/>
          <p:cNvSpPr txBox="1"/>
          <p:nvPr/>
        </p:nvSpPr>
        <p:spPr>
          <a:xfrm>
            <a:off x="4681728" y="2999232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患者确实在做与任务一致的认知加工。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704527" y="2999232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临床推断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4059936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" y="4187952"/>
            <a:ext cx="68580" cy="64008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" y="4059936"/>
            <a:ext cx="457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③</a:t>
            </a:r>
            <a:endParaRPr lang="en-US" sz="1850" dirty="0"/>
          </a:p>
        </p:txBody>
      </p:sp>
      <p:sp>
        <p:nvSpPr>
          <p:cNvPr id="22" name="Text 19"/>
          <p:cNvSpPr txBox="1"/>
          <p:nvPr/>
        </p:nvSpPr>
        <p:spPr>
          <a:xfrm>
            <a:off x="1353312" y="4059936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主观意识本身</a:t>
            </a:r>
            <a:endParaRPr lang="en-US" sz="1850" dirty="0"/>
          </a:p>
        </p:txBody>
      </p:sp>
      <p:sp>
        <p:nvSpPr>
          <p:cNvPr id="23" name="Text 20"/>
          <p:cNvSpPr txBox="1"/>
          <p:nvPr/>
        </p:nvSpPr>
        <p:spPr>
          <a:xfrm>
            <a:off x="4681728" y="4059936"/>
            <a:ext cx="4846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患者正在体验什么——无法被外部直接观测。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704527" y="405993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无法直接验证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519379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证据强度自上而下递减：上一层不能自动推出下一层。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66928" y="56327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928" y="579729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双向边界：单次阳性 ≠ 完整意识；单次阴性 ≠ 无意识。可解码 ≠ 可证明为意识。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讨论 · 本汇报推论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这条线上真正的瓶颈在哪里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828800"/>
            <a:ext cx="2586152" cy="32004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3957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瓶颈不是精度，是对照条件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04672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356616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Level 1–2 靠任务对照就够；Level 3–4 必须靠 no-report 与意识／无意识对照。验证问题不解决时，精度越高，错误越有说服力。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90824" y="1828800"/>
            <a:ext cx="2586152" cy="32004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/>
          </a:solidFill>
          <a:ln w="12700">
            <a:solidFill>
              <a:srgbClr val="1752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28568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3628568" y="23957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从「测试」到「对话」才是可行性的关键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3628568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8568" y="356616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一次性检查的失败模式（疲劳、注意波动、单次阴性）会被误读成「无意识」；持续交互把单次阴性从「证据」降级为「一个事件」。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4720" y="1828800"/>
            <a:ext cx="2586152" cy="32004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/>
          </a:solidFill>
          <a:ln w="12700">
            <a:solidFill>
              <a:srgbClr val="1B8C9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52464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6452464" y="23957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闭环同时解决了旧问题、制造了新问题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452464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52464" y="356616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它能验证因果，代价是 ground truth 不再独立——所以闭环研究必须自带「自然状态基线 + 调控后对照」。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38615" y="1828800"/>
            <a:ext cx="2586152" cy="3200400"/>
          </a:xfrm>
          <a:prstGeom prst="roundRect">
            <a:avLst>
              <a:gd name="adj" fmla="val 4596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76359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50" dirty="0"/>
          </a:p>
        </p:txBody>
      </p:sp>
      <p:sp>
        <p:nvSpPr>
          <p:cNvPr id="28" name="Text 25"/>
          <p:cNvSpPr txBox="1"/>
          <p:nvPr/>
        </p:nvSpPr>
        <p:spPr>
          <a:xfrm>
            <a:off x="9276359" y="23957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b="1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伦理问题的性质会变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9276359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76359" y="3566160"/>
            <a:ext cx="2110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前期讨论的是 mental privacy（读不读得到）；到了闭环阶段，问题变成 agency（能不能被调控、谁来授权）。03 停在隐私，08 没有展开授权。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以上四条由本次汇报引用的证据推出，不是任何一篇作者的结论；其中第 1 条与第 3 条是我认为最值得立项的两个方向。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讨论 · 汇总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八篇文献的汇报结论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682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编号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文献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310128" y="1682496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一句话汇报结论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795967" y="1682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在主线上的位置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19751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07108"/>
            <a:ext cx="11277295" cy="466344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204825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20482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Bodien 2024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310128" y="2048256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行为无反应 ≠ 认知不存在；把临床诊断问题转化成一个 BCI 问题。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795967" y="20482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起点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25603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25603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Fischer 2025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310128" y="2560320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从「检测」到「解码」；但可解码 ≠ 可证明为意识。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795967" y="2560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范式转换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031236"/>
            <a:ext cx="11277295" cy="466344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6928" y="307238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98448" y="30723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Kronemer 2025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310128" y="3072384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普通 BCI 有行为 ground truth，意识 BCI 没有。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9795967" y="30723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方法学约束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358444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3A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298448" y="35844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Tang 2023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310128" y="3584448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语义解码仍是 proof of principle；下一步是在 EEG/ECoG/iEEG 上做实时语义解码。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9795967" y="35844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技术地基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4055364"/>
            <a:ext cx="11277295" cy="466344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409651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8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298448" y="40965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Littlejohn 2025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3310128" y="4096512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assessment 到 communication：问题变成「能不能持续表达」。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9795967" y="4096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通道连续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460857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298448" y="460857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Wairagkar 2025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3310128" y="4608576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从「想移动什么」到「想说什么、以及声音该怎么表达」。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795967" y="4608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输出丰富度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5079492"/>
            <a:ext cx="11277295" cy="466344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6928" y="512064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298448" y="5120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 Bois 2026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3310128" y="5120640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意识 BCI 正从实验室范式走向 wearable、interactive、bedside。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9795967" y="512064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临床落地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63270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52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298448" y="56327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Kordas 2026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3310128" y="5632704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未来是多模态 + AI + 个体化 + 交互式的组合，并指向闭环。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9795967" y="5632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527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方向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66928" y="606247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FB4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留给组会的三个问题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2103120"/>
            <a:ext cx="3503066" cy="3931920"/>
          </a:xfrm>
          <a:prstGeom prst="roundRect">
            <a:avLst>
              <a:gd name="adj" fmla="val 3393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" y="2340864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B8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Q1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79806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如果我们来做，ground truth 从哪来？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77824" y="4261104"/>
            <a:ext cx="2881274" cy="16459"/>
          </a:xfrm>
          <a:prstGeom prst="roundRect">
            <a:avLst>
              <a:gd name="adj" fmla="val 50001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444398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在缺少金标准的前提下，怎样设计出让审稿人接受的对照条件（masking / no-report / 意识-无意识对照）？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4314" y="2103120"/>
            <a:ext cx="3503066" cy="3931920"/>
          </a:xfrm>
          <a:prstGeom prst="roundRect">
            <a:avLst>
              <a:gd name="adj" fmla="val 3393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1474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D98A21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55210" y="2340864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98A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Q2</a:t>
            </a:r>
            <a:endParaRPr lang="en-US" sz="1650" dirty="0"/>
          </a:p>
        </p:txBody>
      </p:sp>
      <p:sp>
        <p:nvSpPr>
          <p:cNvPr id="16" name="Text 13"/>
          <p:cNvSpPr txBox="1"/>
          <p:nvPr/>
        </p:nvSpPr>
        <p:spPr>
          <a:xfrm>
            <a:off x="4655210" y="279806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解码器要不要跨被试？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4655210" y="4261104"/>
            <a:ext cx="2881274" cy="16459"/>
          </a:xfrm>
          <a:prstGeom prst="roundRect">
            <a:avLst>
              <a:gd name="adj" fmla="val 50001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55210" y="444398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 显示跨被试几乎等于随机，07 显示个体间方差是 LIS 的主要来源——我们该做个体化，还是做可迁移的表征？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21701" y="2103120"/>
            <a:ext cx="3503066" cy="3931920"/>
          </a:xfrm>
          <a:prstGeom prst="roundRect">
            <a:avLst>
              <a:gd name="adj" fmla="val 3393"/>
            </a:avLst>
          </a:prstGeom>
          <a:solidFill>
            <a:srgbClr val="13293F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58861" y="219456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2FB8C6"/>
          </a:solidFill>
          <a:ln w="12700">
            <a:solidFill>
              <a:srgbClr val="2FB8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32597" y="2340864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FB8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Q3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8432597" y="279806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EAF2F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哪一步最值得先做？</a:t>
            </a:r>
            <a:endParaRPr lang="en-US" sz="1850" dirty="0"/>
          </a:p>
        </p:txBody>
      </p:sp>
      <p:sp>
        <p:nvSpPr>
          <p:cNvPr id="23" name="Shape 20"/>
          <p:cNvSpPr/>
          <p:nvPr/>
        </p:nvSpPr>
        <p:spPr>
          <a:xfrm>
            <a:off x="8432597" y="4261104"/>
            <a:ext cx="2881274" cy="16459"/>
          </a:xfrm>
          <a:prstGeom prst="roundRect">
            <a:avLst>
              <a:gd name="adj" fmla="val 50001"/>
            </a:avLst>
          </a:prstGeom>
          <a:solidFill>
            <a:srgbClr val="24405C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32597" y="4443984"/>
            <a:ext cx="28812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状态检测、语义解码、语音输出、闭环干预，四者共享同一批信号与同一套伦理约束，先手应该落在哪里？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19963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8C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谢谢，欢迎补充与质疑。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ldma/knowledge/artical/Brain-Computer Interface/.tools/assets/wave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B8C9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A6B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F3A5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参考文献与数据来源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810512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Bodien YG, Allanson J, Cardone P, et al. Cognitive Motor Dissociation in Disorders of Consciousness. N Engl J Med. 2024;391(7):598–608. doi:10.1056/NEJMoa2400645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761488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Fischer D, Edlow BL, Freeman HJ, et al. Reconstructing Covert Consciousness: Neural Decoding as a Novel Consciousness Assessment. Neurology. 2025;104(4):e210208. doi:10.1212/WNL.0000000000210208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712464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Kronemer SI, Bandettini PA, Gonzalez-Castillo J. Sleuthing subjectivity: a review of covert measures of consciousness. Nat Rev Neurosci. 2025;26(8):476–496. doi:10.1038/s41583-025-00934-1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663440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Littlejohn KT, Cho CJ, Liu JR, et al. A streaming brain-to-voice neuroprosthesis to restore naturalistic communication. Nat Neurosci. 2025;28:902–912. doi:10.1038/s41593-025-01905-6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24448" y="1810512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Wairagkar M, Card NS, Singer-Clark T, et al. An instantaneous voice-synthesis neuroprosthesis. Nature. 2025;644:145–152. doi:10.1038/s41586-025-09127-3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2761488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Tang J, LeBel A, Jain S, Huth AG. Semantic reconstruction of continuous language from non-invasive brain recordings. Nat Neurosci. 2023;26(5):858–866. doi:10.1038/s41593-023-01304-9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24448" y="3712464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du Bois N, Korik A, Hodge S, et al. Advancing EEG-based assessment of consciousness and cognition in prolonged disorders of consciousness. Commun Med. 2026;6:344. doi:10.1038/s43856-026-01574-x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4663440"/>
            <a:ext cx="530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22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Kordas B. Multimodal Assessment of Consciousness with Brain-Computer Interfaces and Artificial Intelligence: From Acquired Brain Injury to Neurodegenerative Disease. J Clin Med. 2026;15(14):5398. doi:10.3390/jcm15145398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565099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5797296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原文状态：01 / 02 / 05 / 06 / 07 / 08 已在本合集 PDFs/ 目录本地存档（含 SHA-256 校验）；03 与 04 经验证不存在合法开放获取版本，需机构订阅，对应笔记为摘要级提取。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脑机接口与意识：从意识检测到意识内容解码</dc:title>
  <dc:subject>BCI × Consciousness 文献精读</dc:subject>
  <dc:creator>组会汇报</dc:creator>
  <cp:lastModifiedBy>组会汇报</cp:lastModifiedBy>
  <cp:revision>1</cp:revision>
  <dcterms:created xsi:type="dcterms:W3CDTF">2026-09-21T15:18:52Z</dcterms:created>
  <dcterms:modified xsi:type="dcterms:W3CDTF">2026-09-21T15:18:52Z</dcterms:modified>
</cp:coreProperties>
</file>