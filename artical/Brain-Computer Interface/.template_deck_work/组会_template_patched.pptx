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从“能解”到“能用”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BCI </a:t>
            </a:r>
            <a:r>
              <a:rPr lang="zh-CN" altLang="en-US"/>
              <a:t>是否能从实验室信号解码，进入长期、低负担和真实的患者生活？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可解码</a:t>
            </a:r>
            <a:r>
              <a:rPr lang="en-US" altLang="zh-CN"/>
              <a:t>：</a:t>
            </a:r>
            <a:r>
              <a:rPr lang="zh-CN" altLang="en-US"/>
              <a:t>神经活动中是否含有稳定信息？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1. 高通量能否进入真实生活？</a:t>
            </a:r>
            <a:endParaRPr lang="zh-CN" altLang="en-US"/>
          </a:p>
          <a:p>
            <a:r>
              <a:rPr lang="zh-CN" altLang="en-US"/>
              <a:t>2. 模型能否从一个患者迁移到另一个患者？</a:t>
            </a:r>
            <a:endParaRPr lang="zh-CN" altLang="en-US"/>
          </a:p>
          <a:p>
            <a:r>
              <a:rPr lang="zh-CN" altLang="en-US"/>
              <a:t>3. 系统关闭后是否仍留下治疗效应？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Card 2026：</a:t>
            </a:r>
            <a:r>
              <a:rPr lang="zh-CN" altLang="en-US"/>
              <a:t>语音 </a:t>
            </a:r>
            <a:r>
              <a:rPr lang="en-US" altLang="zh-CN"/>
              <a:t>BCI </a:t>
            </a:r>
            <a:r>
              <a:rPr lang="zh-CN" altLang="en-US"/>
              <a:t>的居家独立使用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Q</a:t>
            </a:r>
            <a:r>
              <a:rPr lang="zh-CN" altLang="en-US"/>
              <a:t>：皮层内语音 </a:t>
            </a:r>
            <a:r>
              <a:rPr lang="en-US" altLang="zh-CN"/>
              <a:t>BCI </a:t>
            </a:r>
            <a:r>
              <a:rPr lang="zh-CN" altLang="en-US"/>
              <a:t>能否在无人协助的真实家庭环境中长期运行？</a:t>
            </a:r>
            <a:endParaRPr lang="zh-CN" altLang="en-US"/>
          </a:p>
          <a:p>
            <a:pPr marL="457200" lvl="1" indent="457200">
              <a:buNone/>
            </a:pPr>
            <a:r>
              <a:rPr lang="zh-CN" altLang="en-US"/>
              <a:t>既往</a:t>
            </a:r>
            <a:r>
              <a:rPr lang="en-US" altLang="zh-CN"/>
              <a:t>BCI</a:t>
            </a:r>
            <a:r>
              <a:rPr lang="zh-CN" altLang="en-US"/>
              <a:t>已经实现语言解码为文本呈现</a:t>
            </a:r>
            <a:r>
              <a:rPr lang="en-US" altLang="zh-CN"/>
              <a:t>，</a:t>
            </a:r>
            <a:r>
              <a:rPr lang="zh-CN" altLang="en-US"/>
              <a:t>但大部分处于实验室条件下</a:t>
            </a:r>
            <a:r>
              <a:rPr lang="en-US" altLang="zh-CN"/>
              <a:t>。</a:t>
            </a:r>
            <a:endParaRPr lang="en-US" altLang="zh-CN"/>
          </a:p>
          <a:p>
            <a:pPr marL="457200" lvl="1" indent="457200">
              <a:buNone/>
            </a:pPr>
            <a:r>
              <a:rPr lang="zh-CN" altLang="en-US"/>
              <a:t>患者能否独立使用，以及长期使用后性能是否稳定</a:t>
            </a:r>
            <a:endParaRPr lang="zh-CN" altLang="en-US"/>
          </a:p>
          <a:p>
            <a:pPr marL="457200" lvl="1" indent="457200">
              <a:buNone/>
            </a:pPr>
            <a:endParaRPr lang="zh-CN" altLang="en-US"/>
          </a:p>
          <a:p>
            <a:pPr lvl="0"/>
            <a:r>
              <a:rPr lang="en-US" altLang="zh-CN"/>
              <a:t>Method</a:t>
            </a:r>
            <a:endParaRPr lang="en-US" altLang="zh-CN"/>
          </a:p>
          <a:p>
            <a:pPr lvl="1"/>
            <a:r>
              <a:rPr lang="zh-CN" altLang="en-US"/>
              <a:t>研究纳入一名 </a:t>
            </a:r>
            <a:r>
              <a:rPr lang="en-US" altLang="zh-CN"/>
              <a:t>ALS </a:t>
            </a:r>
            <a:r>
              <a:rPr lang="zh-CN" altLang="en-US"/>
              <a:t>相关的重度构音障碍、四肢瘫痪患者。</a:t>
            </a:r>
            <a:endParaRPr lang="zh-CN" altLang="en-US"/>
          </a:p>
          <a:p>
            <a:pPr lvl="1"/>
            <a:r>
              <a:rPr lang="zh-CN" altLang="en-US"/>
              <a:t>植入皮层内微电极阵列，覆盖语言相关腹侧前中央回</a:t>
            </a:r>
            <a:endParaRPr lang="zh-CN" altLang="en-US"/>
          </a:p>
          <a:p>
            <a:pPr lvl="2"/>
            <a:r>
              <a:rPr lang="en-US" altLang="zh-CN">
                <a:sym typeface="+mn-ea"/>
              </a:rPr>
              <a:t>transformer </a:t>
            </a:r>
            <a:r>
              <a:rPr lang="zh-CN" altLang="en-US">
                <a:sym typeface="+mn-ea"/>
              </a:rPr>
              <a:t>脑到文本解码器，把尝试说话转成键盘输入</a:t>
            </a:r>
            <a:endParaRPr lang="zh-CN" altLang="en-US">
              <a:sym typeface="+mn-ea"/>
            </a:endParaRPr>
          </a:p>
          <a:p>
            <a:pPr lvl="2"/>
            <a:r>
              <a:rPr lang="en-US" altLang="zh-CN">
                <a:sym typeface="+mn-ea"/>
              </a:rPr>
              <a:t>RNN </a:t>
            </a:r>
            <a:r>
              <a:rPr lang="zh-CN" altLang="en-US">
                <a:sym typeface="+mn-ea"/>
              </a:rPr>
              <a:t>神经光标解码器，把意图转成鼠标移动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result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研究人员不在场的家中使用系统近两年，累计超过 </a:t>
            </a:r>
            <a:r>
              <a:rPr lang="zh-CN" altLang="en-US" sz="2400" b="1">
                <a:latin typeface="Heiti SC" panose="020B0400000000000000" charset="-122"/>
                <a:ea typeface="Heiti SC" panose="020B0400000000000000" charset="-122"/>
                <a:cs typeface="Heiti SC" panose="020B0400000000000000" charset="-122"/>
              </a:rPr>
              <a:t>3,800 小时</a:t>
            </a:r>
            <a:endParaRPr lang="zh-CN" altLang="en-US"/>
          </a:p>
          <a:p>
            <a:r>
              <a:rPr lang="zh-CN" altLang="en-US"/>
              <a:t>系统共输出约 18.3 万句、196 万词，自由使用平均速度 </a:t>
            </a:r>
            <a:r>
              <a:rPr lang="zh-CN" altLang="en-US" sz="2400" b="1">
                <a:latin typeface="Heiti SC" panose="020B0400000000000000" charset="-122"/>
                <a:ea typeface="Heiti SC" panose="020B0400000000000000" charset="-122"/>
                <a:cs typeface="Heiti SC" panose="020B0400000000000000" charset="-122"/>
              </a:rPr>
              <a:t>56 词/分</a:t>
            </a:r>
            <a:endParaRPr lang="zh-CN" altLang="en-US"/>
          </a:p>
          <a:p>
            <a:r>
              <a:rPr lang="zh-CN" altLang="en-US"/>
              <a:t>患者能够在屏幕提示的复制任务中达到超过 99% 的词准确率</a:t>
            </a:r>
            <a:endParaRPr lang="zh-CN" altLang="en-US"/>
          </a:p>
          <a:p>
            <a:r>
              <a:rPr lang="zh-CN" altLang="en-US"/>
              <a:t>但在真实居家使用中，患者自己判断“至少基本正确”的句子占 92%。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语音 </a:t>
            </a:r>
            <a:r>
              <a:rPr lang="en-US" altLang="zh-CN"/>
              <a:t>BCI </a:t>
            </a:r>
            <a:r>
              <a:rPr lang="zh-CN" altLang="en-US"/>
              <a:t>已经出现真实生活证据，但单例成功还不能代表可推广的临床系统。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Fogg + Wairagkar：</a:t>
            </a:r>
            <a:r>
              <a:rPr lang="zh-CN" altLang="en-US"/>
              <a:t>规模化与表达力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Fogg 2026（</a:t>
            </a:r>
            <a:r>
              <a:rPr lang="zh-CN" altLang="en-US"/>
              <a:t>预印本</a:t>
            </a:r>
            <a:r>
              <a:rPr lang="en-US" altLang="zh-CN"/>
              <a:t>）</a:t>
            </a:r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6 名皮层内语音 </a:t>
            </a:r>
            <a:r>
              <a:rPr lang="en-US" altLang="zh-CN"/>
              <a:t>BCI </a:t>
            </a:r>
            <a:r>
              <a:rPr lang="zh-CN" altLang="en-US"/>
              <a:t>参与者</a:t>
            </a:r>
            <a:endParaRPr lang="zh-CN" altLang="en-US"/>
          </a:p>
          <a:p>
            <a:r>
              <a:rPr lang="zh-CN" altLang="en-US"/>
              <a:t>多用户 </a:t>
            </a:r>
            <a:r>
              <a:rPr lang="en-US" altLang="zh-CN"/>
              <a:t>transformer </a:t>
            </a:r>
            <a:r>
              <a:rPr lang="zh-CN" altLang="en-US"/>
              <a:t>相对单用户模型 </a:t>
            </a:r>
            <a:r>
              <a:rPr lang="en-US" altLang="zh-CN"/>
              <a:t>WER </a:t>
            </a:r>
            <a:r>
              <a:rPr lang="zh-CN" altLang="en-US"/>
              <a:t>平均下降超过 50%</a:t>
            </a:r>
            <a:endParaRPr lang="zh-CN" altLang="en-US"/>
          </a:p>
          <a:p>
            <a:r>
              <a:rPr lang="zh-CN" altLang="en-US"/>
              <a:t>新用户少于 200 句微调后达到低于 7% </a:t>
            </a:r>
            <a:r>
              <a:rPr lang="en-US" altLang="zh-CN"/>
              <a:t>WER	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/>
        <p:txBody>
          <a:bodyPr/>
          <a:p>
            <a:r>
              <a:rPr lang="en-US" altLang="zh-CN"/>
              <a:t>Wairagkar 2025</a:t>
            </a:r>
            <a:endParaRPr lang="en-US" altLang="zh-CN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256 个皮层内电极。</a:t>
            </a:r>
            <a:endParaRPr lang="zh-CN" altLang="en-US"/>
          </a:p>
          <a:p>
            <a:r>
              <a:rPr lang="zh-CN" altLang="en-US"/>
              <a:t>直接合成声学特征，而非先转文字。</a:t>
            </a:r>
            <a:endParaRPr lang="zh-CN" altLang="en-US"/>
          </a:p>
          <a:p>
            <a:r>
              <a:rPr lang="zh-CN" altLang="en-US"/>
              <a:t>问句语调 90.5%，词重音 95.7%。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Heiti SC"/>
        <a:ea typeface="Heiti SC"/>
        <a:cs typeface=""/>
      </a:majorFont>
      <a:minorFont>
        <a:latin typeface="Heiti SC"/>
        <a:ea typeface="Heiti SC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Heiti SC"/>
        <a:ea typeface="Heiti SC"/>
        <a:cs typeface=""/>
      </a:majorFont>
      <a:minorFont>
        <a:latin typeface="Heiti SC"/>
        <a:ea typeface="Heiti S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Heiti SC"/>
        <a:ea typeface="Heiti SC"/>
        <a:cs typeface=""/>
      </a:majorFont>
      <a:minorFont>
        <a:latin typeface="Heiti SC"/>
        <a:ea typeface="Heiti S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688</Words>
  <Application>WPS 演示</Application>
  <PresentationFormat>宽屏</PresentationFormat>
  <Paragraphs>46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Heiti SC</vt:lpstr>
      <vt:lpstr>微软雅黑</vt:lpstr>
      <vt:lpstr>方正雅意黑 GB18030L2</vt:lpstr>
      <vt:lpstr>宋体</vt:lpstr>
      <vt:lpstr>Arial Unicode MS</vt:lpstr>
      <vt:lpstr>汉仪书宋二KW</vt:lpstr>
      <vt:lpstr>Heiti SC</vt:lpstr>
      <vt:lpstr>Heiti SC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lky</cp:lastModifiedBy>
  <cp:revision>165</cp:revision>
  <dcterms:created xsi:type="dcterms:W3CDTF">2026-10-17T14:29:09Z</dcterms:created>
  <dcterms:modified xsi:type="dcterms:W3CDTF">2026-10-17T14:29:09Z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C7EB64A4D29FEF1ED9F0D26AF083A64F_41</vt:lpwstr>
  </property>
</Properties>
</file>